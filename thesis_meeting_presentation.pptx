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9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73"/>
    <p:restoredTop sz="94754"/>
  </p:normalViewPr>
  <p:slideViewPr>
    <p:cSldViewPr snapToGrid="0" snapToObjects="1">
      <p:cViewPr varScale="1">
        <p:scale>
          <a:sx n="136" d="100"/>
          <a:sy n="136" d="100"/>
        </p:scale>
        <p:origin x="1280" y="10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81D083-038C-4923-9BD3-28B9030A2DCD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5A6117C-8C5B-475F-B870-51F9ADCB7DD0}">
      <dgm:prSet/>
      <dgm:spPr/>
      <dgm:t>
        <a:bodyPr/>
        <a:lstStyle/>
        <a:p>
          <a:r>
            <a:rPr lang="en-US" b="1"/>
            <a:t>Quantization</a:t>
          </a:r>
          <a:r>
            <a:rPr lang="en-US"/>
            <a:t> reduces numerical precision of model parameters, and sometimes activations, to smaller representations such as INT8</a:t>
          </a:r>
        </a:p>
      </dgm:t>
    </dgm:pt>
    <dgm:pt modelId="{BC8613B7-AD87-4DFE-A2F1-BE8303285E35}" type="parTrans" cxnId="{6B9C10B5-8BD6-4BF3-99E5-3FC8A13D7EAD}">
      <dgm:prSet/>
      <dgm:spPr/>
      <dgm:t>
        <a:bodyPr/>
        <a:lstStyle/>
        <a:p>
          <a:endParaRPr lang="en-US"/>
        </a:p>
      </dgm:t>
    </dgm:pt>
    <dgm:pt modelId="{C6CEF0DF-98FE-4786-869E-69E50D11B355}" type="sibTrans" cxnId="{6B9C10B5-8BD6-4BF3-99E5-3FC8A13D7EAD}">
      <dgm:prSet/>
      <dgm:spPr/>
      <dgm:t>
        <a:bodyPr/>
        <a:lstStyle/>
        <a:p>
          <a:endParaRPr lang="en-US"/>
        </a:p>
      </dgm:t>
    </dgm:pt>
    <dgm:pt modelId="{E68C5C14-B8AA-44AA-9D59-16DFB97A2045}">
      <dgm:prSet/>
      <dgm:spPr/>
      <dgm:t>
        <a:bodyPr/>
        <a:lstStyle/>
        <a:p>
          <a:r>
            <a:rPr lang="en-US" b="1"/>
            <a:t>Purpose</a:t>
          </a:r>
          <a:r>
            <a:rPr lang="en-US"/>
            <a:t>: smaller model, cheaper inference, lower memory footprint, better deployability</a:t>
          </a:r>
        </a:p>
      </dgm:t>
    </dgm:pt>
    <dgm:pt modelId="{4AE3869A-0B03-49F9-95D7-2C57BE972A61}" type="parTrans" cxnId="{4C48D2D7-6702-4141-8C8A-6EF5F6B36DE1}">
      <dgm:prSet/>
      <dgm:spPr/>
      <dgm:t>
        <a:bodyPr/>
        <a:lstStyle/>
        <a:p>
          <a:endParaRPr lang="en-US"/>
        </a:p>
      </dgm:t>
    </dgm:pt>
    <dgm:pt modelId="{444AA52F-47A3-44AD-9987-458109380217}" type="sibTrans" cxnId="{4C48D2D7-6702-4141-8C8A-6EF5F6B36DE1}">
      <dgm:prSet/>
      <dgm:spPr/>
      <dgm:t>
        <a:bodyPr/>
        <a:lstStyle/>
        <a:p>
          <a:endParaRPr lang="en-US"/>
        </a:p>
      </dgm:t>
    </dgm:pt>
    <dgm:pt modelId="{01A2C579-4AC1-4FE3-91F4-BE743E33C774}">
      <dgm:prSet/>
      <dgm:spPr/>
      <dgm:t>
        <a:bodyPr/>
        <a:lstStyle/>
        <a:p>
          <a:r>
            <a:rPr lang="en-US" b="1"/>
            <a:t>Advantages</a:t>
          </a:r>
          <a:r>
            <a:rPr lang="en-US"/>
            <a:t>: can reduce model size and inference cost</a:t>
          </a:r>
        </a:p>
      </dgm:t>
    </dgm:pt>
    <dgm:pt modelId="{D985D448-B4F4-4DB8-862C-D9382BC48089}" type="parTrans" cxnId="{4A08ECAE-6743-4C72-A998-68395574B889}">
      <dgm:prSet/>
      <dgm:spPr/>
      <dgm:t>
        <a:bodyPr/>
        <a:lstStyle/>
        <a:p>
          <a:endParaRPr lang="en-US"/>
        </a:p>
      </dgm:t>
    </dgm:pt>
    <dgm:pt modelId="{1F041D45-7B19-4986-8647-677616A17287}" type="sibTrans" cxnId="{4A08ECAE-6743-4C72-A998-68395574B889}">
      <dgm:prSet/>
      <dgm:spPr/>
      <dgm:t>
        <a:bodyPr/>
        <a:lstStyle/>
        <a:p>
          <a:endParaRPr lang="en-US"/>
        </a:p>
      </dgm:t>
    </dgm:pt>
    <dgm:pt modelId="{B90F93DC-C3C8-402C-B6FE-28637B795B25}">
      <dgm:prSet/>
      <dgm:spPr/>
      <dgm:t>
        <a:bodyPr/>
        <a:lstStyle/>
        <a:p>
          <a:r>
            <a:rPr lang="en-US" b="1"/>
            <a:t>Disadvantages</a:t>
          </a:r>
          <a:r>
            <a:rPr lang="en-US"/>
            <a:t>: may reduce accuracy, may depend on hardware support, and may affect only part of the architecture depending on method</a:t>
          </a:r>
        </a:p>
      </dgm:t>
    </dgm:pt>
    <dgm:pt modelId="{7BA82566-891F-42A3-A748-B0CBF2BB623B}" type="parTrans" cxnId="{FD595020-8C11-4BB5-9318-04C99BC6FF8E}">
      <dgm:prSet/>
      <dgm:spPr/>
      <dgm:t>
        <a:bodyPr/>
        <a:lstStyle/>
        <a:p>
          <a:endParaRPr lang="en-US"/>
        </a:p>
      </dgm:t>
    </dgm:pt>
    <dgm:pt modelId="{C954F93D-8861-4164-99D9-F7BBFB266B5C}" type="sibTrans" cxnId="{FD595020-8C11-4BB5-9318-04C99BC6FF8E}">
      <dgm:prSet/>
      <dgm:spPr/>
      <dgm:t>
        <a:bodyPr/>
        <a:lstStyle/>
        <a:p>
          <a:endParaRPr lang="en-US"/>
        </a:p>
      </dgm:t>
    </dgm:pt>
    <dgm:pt modelId="{1E9354B9-7859-4AFA-A3AB-42A2263FE790}" type="pres">
      <dgm:prSet presAssocID="{4B81D083-038C-4923-9BD3-28B9030A2DCD}" presName="root" presStyleCnt="0">
        <dgm:presLayoutVars>
          <dgm:dir/>
          <dgm:resizeHandles val="exact"/>
        </dgm:presLayoutVars>
      </dgm:prSet>
      <dgm:spPr/>
    </dgm:pt>
    <dgm:pt modelId="{0CC391AF-CAE0-4A93-A616-A2DE9C48CFD5}" type="pres">
      <dgm:prSet presAssocID="{4B81D083-038C-4923-9BD3-28B9030A2DCD}" presName="container" presStyleCnt="0">
        <dgm:presLayoutVars>
          <dgm:dir/>
          <dgm:resizeHandles val="exact"/>
        </dgm:presLayoutVars>
      </dgm:prSet>
      <dgm:spPr/>
    </dgm:pt>
    <dgm:pt modelId="{520B343E-59D8-486B-8831-058D10A57DBB}" type="pres">
      <dgm:prSet presAssocID="{B5A6117C-8C5B-475F-B870-51F9ADCB7DD0}" presName="compNode" presStyleCnt="0"/>
      <dgm:spPr/>
    </dgm:pt>
    <dgm:pt modelId="{EE448F0D-7959-45AE-B449-7ABA37783BBC}" type="pres">
      <dgm:prSet presAssocID="{B5A6117C-8C5B-475F-B870-51F9ADCB7DD0}" presName="iconBgRect" presStyleLbl="bgShp" presStyleIdx="0" presStyleCnt="4"/>
      <dgm:spPr/>
    </dgm:pt>
    <dgm:pt modelId="{09972809-AECC-4AD4-8D3B-44C7937ACB45}" type="pres">
      <dgm:prSet presAssocID="{B5A6117C-8C5B-475F-B870-51F9ADCB7DD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58A3673B-7073-4A2F-B644-F75B1764CEC5}" type="pres">
      <dgm:prSet presAssocID="{B5A6117C-8C5B-475F-B870-51F9ADCB7DD0}" presName="spaceRect" presStyleCnt="0"/>
      <dgm:spPr/>
    </dgm:pt>
    <dgm:pt modelId="{60371A6A-9DE2-433C-B692-0AA0D7F6CF73}" type="pres">
      <dgm:prSet presAssocID="{B5A6117C-8C5B-475F-B870-51F9ADCB7DD0}" presName="textRect" presStyleLbl="revTx" presStyleIdx="0" presStyleCnt="4">
        <dgm:presLayoutVars>
          <dgm:chMax val="1"/>
          <dgm:chPref val="1"/>
        </dgm:presLayoutVars>
      </dgm:prSet>
      <dgm:spPr/>
    </dgm:pt>
    <dgm:pt modelId="{73374B6F-3E07-42B5-985F-5F385F8E6B33}" type="pres">
      <dgm:prSet presAssocID="{C6CEF0DF-98FE-4786-869E-69E50D11B355}" presName="sibTrans" presStyleLbl="sibTrans2D1" presStyleIdx="0" presStyleCnt="0"/>
      <dgm:spPr/>
    </dgm:pt>
    <dgm:pt modelId="{83EC75C4-5777-4DA4-B260-ACD5733D498A}" type="pres">
      <dgm:prSet presAssocID="{E68C5C14-B8AA-44AA-9D59-16DFB97A2045}" presName="compNode" presStyleCnt="0"/>
      <dgm:spPr/>
    </dgm:pt>
    <dgm:pt modelId="{6A67554E-F1FE-4799-96B3-F7162C18A0C1}" type="pres">
      <dgm:prSet presAssocID="{E68C5C14-B8AA-44AA-9D59-16DFB97A2045}" presName="iconBgRect" presStyleLbl="bgShp" presStyleIdx="1" presStyleCnt="4"/>
      <dgm:spPr/>
    </dgm:pt>
    <dgm:pt modelId="{16F9A6CB-DA67-4EA3-879E-B1BBEF21E600}" type="pres">
      <dgm:prSet presAssocID="{E68C5C14-B8AA-44AA-9D59-16DFB97A204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46961568-1480-4A1B-AC09-3D3CEAFF12EE}" type="pres">
      <dgm:prSet presAssocID="{E68C5C14-B8AA-44AA-9D59-16DFB97A2045}" presName="spaceRect" presStyleCnt="0"/>
      <dgm:spPr/>
    </dgm:pt>
    <dgm:pt modelId="{9E2F5558-BE62-4C2B-BB21-340B61AD819A}" type="pres">
      <dgm:prSet presAssocID="{E68C5C14-B8AA-44AA-9D59-16DFB97A2045}" presName="textRect" presStyleLbl="revTx" presStyleIdx="1" presStyleCnt="4">
        <dgm:presLayoutVars>
          <dgm:chMax val="1"/>
          <dgm:chPref val="1"/>
        </dgm:presLayoutVars>
      </dgm:prSet>
      <dgm:spPr/>
    </dgm:pt>
    <dgm:pt modelId="{BFE17C86-D8CB-4E2F-9295-6BBBC24FBF89}" type="pres">
      <dgm:prSet presAssocID="{444AA52F-47A3-44AD-9987-458109380217}" presName="sibTrans" presStyleLbl="sibTrans2D1" presStyleIdx="0" presStyleCnt="0"/>
      <dgm:spPr/>
    </dgm:pt>
    <dgm:pt modelId="{D4E024BE-EF57-465E-925F-97028868DF13}" type="pres">
      <dgm:prSet presAssocID="{01A2C579-4AC1-4FE3-91F4-BE743E33C774}" presName="compNode" presStyleCnt="0"/>
      <dgm:spPr/>
    </dgm:pt>
    <dgm:pt modelId="{61FE1961-1D18-4E73-8022-7FB72C9CD512}" type="pres">
      <dgm:prSet presAssocID="{01A2C579-4AC1-4FE3-91F4-BE743E33C774}" presName="iconBgRect" presStyleLbl="bgShp" presStyleIdx="2" presStyleCnt="4"/>
      <dgm:spPr/>
    </dgm:pt>
    <dgm:pt modelId="{93162AD5-69A2-4B67-9D05-35FB6F6A937A}" type="pres">
      <dgm:prSet presAssocID="{01A2C579-4AC1-4FE3-91F4-BE743E33C77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64AB847F-86C3-4A10-ABB5-773AC0897178}" type="pres">
      <dgm:prSet presAssocID="{01A2C579-4AC1-4FE3-91F4-BE743E33C774}" presName="spaceRect" presStyleCnt="0"/>
      <dgm:spPr/>
    </dgm:pt>
    <dgm:pt modelId="{25A75BA9-EB01-40B3-994A-D7D3E40EF4D3}" type="pres">
      <dgm:prSet presAssocID="{01A2C579-4AC1-4FE3-91F4-BE743E33C774}" presName="textRect" presStyleLbl="revTx" presStyleIdx="2" presStyleCnt="4">
        <dgm:presLayoutVars>
          <dgm:chMax val="1"/>
          <dgm:chPref val="1"/>
        </dgm:presLayoutVars>
      </dgm:prSet>
      <dgm:spPr/>
    </dgm:pt>
    <dgm:pt modelId="{D6F6B209-B4AB-4A11-900A-DBD6642A7411}" type="pres">
      <dgm:prSet presAssocID="{1F041D45-7B19-4986-8647-677616A17287}" presName="sibTrans" presStyleLbl="sibTrans2D1" presStyleIdx="0" presStyleCnt="0"/>
      <dgm:spPr/>
    </dgm:pt>
    <dgm:pt modelId="{E533555C-4BAC-47CA-BDA2-206589C660BF}" type="pres">
      <dgm:prSet presAssocID="{B90F93DC-C3C8-402C-B6FE-28637B795B25}" presName="compNode" presStyleCnt="0"/>
      <dgm:spPr/>
    </dgm:pt>
    <dgm:pt modelId="{3BE2A6BA-8BBE-43BB-90D1-1765141BC1E8}" type="pres">
      <dgm:prSet presAssocID="{B90F93DC-C3C8-402C-B6FE-28637B795B25}" presName="iconBgRect" presStyleLbl="bgShp" presStyleIdx="3" presStyleCnt="4"/>
      <dgm:spPr/>
    </dgm:pt>
    <dgm:pt modelId="{124888DB-A9E9-49DD-8957-9E365712EA73}" type="pres">
      <dgm:prSet presAssocID="{B90F93DC-C3C8-402C-B6FE-28637B795B2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958C2B7C-2373-4D56-A4BD-FBDDCB51808D}" type="pres">
      <dgm:prSet presAssocID="{B90F93DC-C3C8-402C-B6FE-28637B795B25}" presName="spaceRect" presStyleCnt="0"/>
      <dgm:spPr/>
    </dgm:pt>
    <dgm:pt modelId="{02BD66EC-45F6-4171-B1F9-08CE5715120B}" type="pres">
      <dgm:prSet presAssocID="{B90F93DC-C3C8-402C-B6FE-28637B795B2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D595020-8C11-4BB5-9318-04C99BC6FF8E}" srcId="{4B81D083-038C-4923-9BD3-28B9030A2DCD}" destId="{B90F93DC-C3C8-402C-B6FE-28637B795B25}" srcOrd="3" destOrd="0" parTransId="{7BA82566-891F-42A3-A748-B0CBF2BB623B}" sibTransId="{C954F93D-8861-4164-99D9-F7BBFB266B5C}"/>
    <dgm:cxn modelId="{4FC57D47-514C-42D6-B2F3-37590AE4C496}" type="presOf" srcId="{E68C5C14-B8AA-44AA-9D59-16DFB97A2045}" destId="{9E2F5558-BE62-4C2B-BB21-340B61AD819A}" srcOrd="0" destOrd="0" presId="urn:microsoft.com/office/officeart/2018/2/layout/IconCircleList"/>
    <dgm:cxn modelId="{4033654A-5CEF-4862-BB44-A0FB1D1C45E9}" type="presOf" srcId="{C6CEF0DF-98FE-4786-869E-69E50D11B355}" destId="{73374B6F-3E07-42B5-985F-5F385F8E6B33}" srcOrd="0" destOrd="0" presId="urn:microsoft.com/office/officeart/2018/2/layout/IconCircleList"/>
    <dgm:cxn modelId="{0E8E9C51-7DD3-4C41-BFF6-C30DF76FD89E}" type="presOf" srcId="{B90F93DC-C3C8-402C-B6FE-28637B795B25}" destId="{02BD66EC-45F6-4171-B1F9-08CE5715120B}" srcOrd="0" destOrd="0" presId="urn:microsoft.com/office/officeart/2018/2/layout/IconCircleList"/>
    <dgm:cxn modelId="{C6F3CF65-D22C-46A9-8FF2-A54F788E215D}" type="presOf" srcId="{01A2C579-4AC1-4FE3-91F4-BE743E33C774}" destId="{25A75BA9-EB01-40B3-994A-D7D3E40EF4D3}" srcOrd="0" destOrd="0" presId="urn:microsoft.com/office/officeart/2018/2/layout/IconCircleList"/>
    <dgm:cxn modelId="{7E0F5D70-DA21-46DC-A89C-C42852C5799B}" type="presOf" srcId="{1F041D45-7B19-4986-8647-677616A17287}" destId="{D6F6B209-B4AB-4A11-900A-DBD6642A7411}" srcOrd="0" destOrd="0" presId="urn:microsoft.com/office/officeart/2018/2/layout/IconCircleList"/>
    <dgm:cxn modelId="{904889A4-9D3A-40F4-B806-D553674A1182}" type="presOf" srcId="{B5A6117C-8C5B-475F-B870-51F9ADCB7DD0}" destId="{60371A6A-9DE2-433C-B692-0AA0D7F6CF73}" srcOrd="0" destOrd="0" presId="urn:microsoft.com/office/officeart/2018/2/layout/IconCircleList"/>
    <dgm:cxn modelId="{F53D15AB-5E78-43B8-AF77-342AFD9E1C2B}" type="presOf" srcId="{4B81D083-038C-4923-9BD3-28B9030A2DCD}" destId="{1E9354B9-7859-4AFA-A3AB-42A2263FE790}" srcOrd="0" destOrd="0" presId="urn:microsoft.com/office/officeart/2018/2/layout/IconCircleList"/>
    <dgm:cxn modelId="{4A08ECAE-6743-4C72-A998-68395574B889}" srcId="{4B81D083-038C-4923-9BD3-28B9030A2DCD}" destId="{01A2C579-4AC1-4FE3-91F4-BE743E33C774}" srcOrd="2" destOrd="0" parTransId="{D985D448-B4F4-4DB8-862C-D9382BC48089}" sibTransId="{1F041D45-7B19-4986-8647-677616A17287}"/>
    <dgm:cxn modelId="{6B9C10B5-8BD6-4BF3-99E5-3FC8A13D7EAD}" srcId="{4B81D083-038C-4923-9BD3-28B9030A2DCD}" destId="{B5A6117C-8C5B-475F-B870-51F9ADCB7DD0}" srcOrd="0" destOrd="0" parTransId="{BC8613B7-AD87-4DFE-A2F1-BE8303285E35}" sibTransId="{C6CEF0DF-98FE-4786-869E-69E50D11B355}"/>
    <dgm:cxn modelId="{822ACEB5-BF3B-4665-AD48-93D5E7241DC6}" type="presOf" srcId="{444AA52F-47A3-44AD-9987-458109380217}" destId="{BFE17C86-D8CB-4E2F-9295-6BBBC24FBF89}" srcOrd="0" destOrd="0" presId="urn:microsoft.com/office/officeart/2018/2/layout/IconCircleList"/>
    <dgm:cxn modelId="{4C48D2D7-6702-4141-8C8A-6EF5F6B36DE1}" srcId="{4B81D083-038C-4923-9BD3-28B9030A2DCD}" destId="{E68C5C14-B8AA-44AA-9D59-16DFB97A2045}" srcOrd="1" destOrd="0" parTransId="{4AE3869A-0B03-49F9-95D7-2C57BE972A61}" sibTransId="{444AA52F-47A3-44AD-9987-458109380217}"/>
    <dgm:cxn modelId="{FFB170B5-42B7-4D5A-AB1B-FCF682153EC1}" type="presParOf" srcId="{1E9354B9-7859-4AFA-A3AB-42A2263FE790}" destId="{0CC391AF-CAE0-4A93-A616-A2DE9C48CFD5}" srcOrd="0" destOrd="0" presId="urn:microsoft.com/office/officeart/2018/2/layout/IconCircleList"/>
    <dgm:cxn modelId="{BA76DCEE-5770-48AD-B873-C9C7D019FE4F}" type="presParOf" srcId="{0CC391AF-CAE0-4A93-A616-A2DE9C48CFD5}" destId="{520B343E-59D8-486B-8831-058D10A57DBB}" srcOrd="0" destOrd="0" presId="urn:microsoft.com/office/officeart/2018/2/layout/IconCircleList"/>
    <dgm:cxn modelId="{5B48E440-B43B-4285-BCA9-FF1439B700C3}" type="presParOf" srcId="{520B343E-59D8-486B-8831-058D10A57DBB}" destId="{EE448F0D-7959-45AE-B449-7ABA37783BBC}" srcOrd="0" destOrd="0" presId="urn:microsoft.com/office/officeart/2018/2/layout/IconCircleList"/>
    <dgm:cxn modelId="{BB8E5F46-ED34-4CE7-920E-C9B2BD134A27}" type="presParOf" srcId="{520B343E-59D8-486B-8831-058D10A57DBB}" destId="{09972809-AECC-4AD4-8D3B-44C7937ACB45}" srcOrd="1" destOrd="0" presId="urn:microsoft.com/office/officeart/2018/2/layout/IconCircleList"/>
    <dgm:cxn modelId="{8C4417ED-75EC-4B24-99D3-B3511730B39B}" type="presParOf" srcId="{520B343E-59D8-486B-8831-058D10A57DBB}" destId="{58A3673B-7073-4A2F-B644-F75B1764CEC5}" srcOrd="2" destOrd="0" presId="urn:microsoft.com/office/officeart/2018/2/layout/IconCircleList"/>
    <dgm:cxn modelId="{2F3853EE-C1D6-4435-85F4-8804796BA453}" type="presParOf" srcId="{520B343E-59D8-486B-8831-058D10A57DBB}" destId="{60371A6A-9DE2-433C-B692-0AA0D7F6CF73}" srcOrd="3" destOrd="0" presId="urn:microsoft.com/office/officeart/2018/2/layout/IconCircleList"/>
    <dgm:cxn modelId="{D22E6CEE-9F44-4F4E-9782-B6334FD8AC67}" type="presParOf" srcId="{0CC391AF-CAE0-4A93-A616-A2DE9C48CFD5}" destId="{73374B6F-3E07-42B5-985F-5F385F8E6B33}" srcOrd="1" destOrd="0" presId="urn:microsoft.com/office/officeart/2018/2/layout/IconCircleList"/>
    <dgm:cxn modelId="{A2DC5D4F-CFFE-4322-820C-18FEFE9B0A02}" type="presParOf" srcId="{0CC391AF-CAE0-4A93-A616-A2DE9C48CFD5}" destId="{83EC75C4-5777-4DA4-B260-ACD5733D498A}" srcOrd="2" destOrd="0" presId="urn:microsoft.com/office/officeart/2018/2/layout/IconCircleList"/>
    <dgm:cxn modelId="{EFD6A4DD-1403-4A49-8D62-7770B667D5FB}" type="presParOf" srcId="{83EC75C4-5777-4DA4-B260-ACD5733D498A}" destId="{6A67554E-F1FE-4799-96B3-F7162C18A0C1}" srcOrd="0" destOrd="0" presId="urn:microsoft.com/office/officeart/2018/2/layout/IconCircleList"/>
    <dgm:cxn modelId="{4A794D2B-52D3-4607-9D62-EE61BAA37632}" type="presParOf" srcId="{83EC75C4-5777-4DA4-B260-ACD5733D498A}" destId="{16F9A6CB-DA67-4EA3-879E-B1BBEF21E600}" srcOrd="1" destOrd="0" presId="urn:microsoft.com/office/officeart/2018/2/layout/IconCircleList"/>
    <dgm:cxn modelId="{650F5FA2-FE55-49D7-93CD-06320E5AE18D}" type="presParOf" srcId="{83EC75C4-5777-4DA4-B260-ACD5733D498A}" destId="{46961568-1480-4A1B-AC09-3D3CEAFF12EE}" srcOrd="2" destOrd="0" presId="urn:microsoft.com/office/officeart/2018/2/layout/IconCircleList"/>
    <dgm:cxn modelId="{8FBF3042-ECB2-4E89-91C4-FF9CDDC65C1F}" type="presParOf" srcId="{83EC75C4-5777-4DA4-B260-ACD5733D498A}" destId="{9E2F5558-BE62-4C2B-BB21-340B61AD819A}" srcOrd="3" destOrd="0" presId="urn:microsoft.com/office/officeart/2018/2/layout/IconCircleList"/>
    <dgm:cxn modelId="{2AFD65A6-AFEE-4C7C-8699-383528361542}" type="presParOf" srcId="{0CC391AF-CAE0-4A93-A616-A2DE9C48CFD5}" destId="{BFE17C86-D8CB-4E2F-9295-6BBBC24FBF89}" srcOrd="3" destOrd="0" presId="urn:microsoft.com/office/officeart/2018/2/layout/IconCircleList"/>
    <dgm:cxn modelId="{A99CFCAA-C74A-453E-914B-BBBC65F04657}" type="presParOf" srcId="{0CC391AF-CAE0-4A93-A616-A2DE9C48CFD5}" destId="{D4E024BE-EF57-465E-925F-97028868DF13}" srcOrd="4" destOrd="0" presId="urn:microsoft.com/office/officeart/2018/2/layout/IconCircleList"/>
    <dgm:cxn modelId="{036F09B4-C71F-412E-B7CC-93F88D3FAAB8}" type="presParOf" srcId="{D4E024BE-EF57-465E-925F-97028868DF13}" destId="{61FE1961-1D18-4E73-8022-7FB72C9CD512}" srcOrd="0" destOrd="0" presId="urn:microsoft.com/office/officeart/2018/2/layout/IconCircleList"/>
    <dgm:cxn modelId="{B6570B9B-9B07-4135-88D0-CF80F92FE0F6}" type="presParOf" srcId="{D4E024BE-EF57-465E-925F-97028868DF13}" destId="{93162AD5-69A2-4B67-9D05-35FB6F6A937A}" srcOrd="1" destOrd="0" presId="urn:microsoft.com/office/officeart/2018/2/layout/IconCircleList"/>
    <dgm:cxn modelId="{DAD3E11E-2889-4D0E-A683-457291CE48AB}" type="presParOf" srcId="{D4E024BE-EF57-465E-925F-97028868DF13}" destId="{64AB847F-86C3-4A10-ABB5-773AC0897178}" srcOrd="2" destOrd="0" presId="urn:microsoft.com/office/officeart/2018/2/layout/IconCircleList"/>
    <dgm:cxn modelId="{5AA2EDDF-0645-4459-977B-FEF4AED429F6}" type="presParOf" srcId="{D4E024BE-EF57-465E-925F-97028868DF13}" destId="{25A75BA9-EB01-40B3-994A-D7D3E40EF4D3}" srcOrd="3" destOrd="0" presId="urn:microsoft.com/office/officeart/2018/2/layout/IconCircleList"/>
    <dgm:cxn modelId="{A2274836-3D74-4805-A36D-BD0AC8E662A3}" type="presParOf" srcId="{0CC391AF-CAE0-4A93-A616-A2DE9C48CFD5}" destId="{D6F6B209-B4AB-4A11-900A-DBD6642A7411}" srcOrd="5" destOrd="0" presId="urn:microsoft.com/office/officeart/2018/2/layout/IconCircleList"/>
    <dgm:cxn modelId="{AEEC5F39-3B3D-4239-A624-8CE8C65AE538}" type="presParOf" srcId="{0CC391AF-CAE0-4A93-A616-A2DE9C48CFD5}" destId="{E533555C-4BAC-47CA-BDA2-206589C660BF}" srcOrd="6" destOrd="0" presId="urn:microsoft.com/office/officeart/2018/2/layout/IconCircleList"/>
    <dgm:cxn modelId="{82DDF358-269C-4D75-A7C6-E44A4EAED301}" type="presParOf" srcId="{E533555C-4BAC-47CA-BDA2-206589C660BF}" destId="{3BE2A6BA-8BBE-43BB-90D1-1765141BC1E8}" srcOrd="0" destOrd="0" presId="urn:microsoft.com/office/officeart/2018/2/layout/IconCircleList"/>
    <dgm:cxn modelId="{08A9474B-089E-4331-B9B1-F6E39404CDAE}" type="presParOf" srcId="{E533555C-4BAC-47CA-BDA2-206589C660BF}" destId="{124888DB-A9E9-49DD-8957-9E365712EA73}" srcOrd="1" destOrd="0" presId="urn:microsoft.com/office/officeart/2018/2/layout/IconCircleList"/>
    <dgm:cxn modelId="{1AB77712-8938-46F6-811F-50EB7F0B0993}" type="presParOf" srcId="{E533555C-4BAC-47CA-BDA2-206589C660BF}" destId="{958C2B7C-2373-4D56-A4BD-FBDDCB51808D}" srcOrd="2" destOrd="0" presId="urn:microsoft.com/office/officeart/2018/2/layout/IconCircleList"/>
    <dgm:cxn modelId="{B934E4F2-7387-4612-B318-F2CC78A67642}" type="presParOf" srcId="{E533555C-4BAC-47CA-BDA2-206589C660BF}" destId="{02BD66EC-45F6-4171-B1F9-08CE5715120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39BF4E-5732-47BD-B451-51EF94AD5724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18A3931-83E0-4B50-8BF4-3AB530B93931}">
      <dgm:prSet/>
      <dgm:spPr/>
      <dgm:t>
        <a:bodyPr/>
        <a:lstStyle/>
        <a:p>
          <a:r>
            <a:rPr lang="en-US"/>
            <a:t>I first trained the float baseline model normally</a:t>
          </a:r>
        </a:p>
      </dgm:t>
    </dgm:pt>
    <dgm:pt modelId="{1BFAB0E5-024E-4665-AE13-80258738F31D}" type="parTrans" cxnId="{80C874B6-9B41-4F78-83D5-5B46DE52206C}">
      <dgm:prSet/>
      <dgm:spPr/>
      <dgm:t>
        <a:bodyPr/>
        <a:lstStyle/>
        <a:p>
          <a:endParaRPr lang="en-US"/>
        </a:p>
      </dgm:t>
    </dgm:pt>
    <dgm:pt modelId="{3988EDDF-4C30-47E8-96BC-EBC5F9AD0966}" type="sibTrans" cxnId="{80C874B6-9B41-4F78-83D5-5B46DE52206C}">
      <dgm:prSet/>
      <dgm:spPr/>
      <dgm:t>
        <a:bodyPr/>
        <a:lstStyle/>
        <a:p>
          <a:endParaRPr lang="en-US"/>
        </a:p>
      </dgm:t>
    </dgm:pt>
    <dgm:pt modelId="{9D259093-95B2-4358-8C6E-A0EB459A6893}">
      <dgm:prSet/>
      <dgm:spPr/>
      <dgm:t>
        <a:bodyPr/>
        <a:lstStyle/>
        <a:p>
          <a:r>
            <a:rPr lang="en-US"/>
            <a:t>After training, I applied post-training dynamic quantization (PTQ)</a:t>
          </a:r>
        </a:p>
      </dgm:t>
    </dgm:pt>
    <dgm:pt modelId="{3F55DB61-DD82-4FDE-8027-F590C1F40709}" type="parTrans" cxnId="{54312B42-52BC-4412-BC93-F8A14C6B63EC}">
      <dgm:prSet/>
      <dgm:spPr/>
      <dgm:t>
        <a:bodyPr/>
        <a:lstStyle/>
        <a:p>
          <a:endParaRPr lang="en-US"/>
        </a:p>
      </dgm:t>
    </dgm:pt>
    <dgm:pt modelId="{BF8BA1E4-3725-4715-A55A-F078F8EFC0B0}" type="sibTrans" cxnId="{54312B42-52BC-4412-BC93-F8A14C6B63EC}">
      <dgm:prSet/>
      <dgm:spPr/>
      <dgm:t>
        <a:bodyPr/>
        <a:lstStyle/>
        <a:p>
          <a:endParaRPr lang="en-US"/>
        </a:p>
      </dgm:t>
    </dgm:pt>
    <dgm:pt modelId="{8F8EF145-2EB5-4B81-A4B7-687F15B35236}">
      <dgm:prSet/>
      <dgm:spPr/>
      <dgm:t>
        <a:bodyPr/>
        <a:lstStyle/>
        <a:p>
          <a:r>
            <a:rPr lang="en-US"/>
            <a:t>The main function used was quantize_dynamic(...)</a:t>
          </a:r>
        </a:p>
      </dgm:t>
    </dgm:pt>
    <dgm:pt modelId="{736DE126-9789-4D6E-852F-90F17443B7CA}" type="parTrans" cxnId="{D0AE37CC-3692-4696-8D3E-5668954DE0DE}">
      <dgm:prSet/>
      <dgm:spPr/>
      <dgm:t>
        <a:bodyPr/>
        <a:lstStyle/>
        <a:p>
          <a:endParaRPr lang="en-US"/>
        </a:p>
      </dgm:t>
    </dgm:pt>
    <dgm:pt modelId="{AC0219D1-DB15-426C-9828-21AC50C06174}" type="sibTrans" cxnId="{D0AE37CC-3692-4696-8D3E-5668954DE0DE}">
      <dgm:prSet/>
      <dgm:spPr/>
      <dgm:t>
        <a:bodyPr/>
        <a:lstStyle/>
        <a:p>
          <a:endParaRPr lang="en-US"/>
        </a:p>
      </dgm:t>
    </dgm:pt>
    <dgm:pt modelId="{50CF050A-68C1-44C4-9923-770EE03E97D1}">
      <dgm:prSet/>
      <dgm:spPr/>
      <dgm:t>
        <a:bodyPr/>
        <a:lstStyle/>
        <a:p>
          <a:r>
            <a:rPr lang="en-US"/>
            <a:t>It was applied </a:t>
          </a:r>
          <a:r>
            <a:rPr lang="en-US" u="sng"/>
            <a:t>only</a:t>
          </a:r>
          <a:r>
            <a:rPr lang="en-US"/>
            <a:t> to </a:t>
          </a:r>
          <a:r>
            <a:rPr lang="en-US" b="1"/>
            <a:t>Linear layers</a:t>
          </a:r>
          <a:endParaRPr lang="en-US"/>
        </a:p>
      </dgm:t>
    </dgm:pt>
    <dgm:pt modelId="{114DE011-683F-4279-BF22-B0CB45F98EF5}" type="parTrans" cxnId="{C6E27BE7-263C-47D4-B3D9-412CB27B0ECC}">
      <dgm:prSet/>
      <dgm:spPr/>
      <dgm:t>
        <a:bodyPr/>
        <a:lstStyle/>
        <a:p>
          <a:endParaRPr lang="en-US"/>
        </a:p>
      </dgm:t>
    </dgm:pt>
    <dgm:pt modelId="{036E508A-562D-4277-904E-80434B52F1AE}" type="sibTrans" cxnId="{C6E27BE7-263C-47D4-B3D9-412CB27B0ECC}">
      <dgm:prSet/>
      <dgm:spPr/>
      <dgm:t>
        <a:bodyPr/>
        <a:lstStyle/>
        <a:p>
          <a:endParaRPr lang="en-US"/>
        </a:p>
      </dgm:t>
    </dgm:pt>
    <dgm:pt modelId="{AF3F33A9-F46F-420F-894B-691CCEBD7D48}">
      <dgm:prSet/>
      <dgm:spPr/>
      <dgm:t>
        <a:bodyPr/>
        <a:lstStyle/>
        <a:p>
          <a:r>
            <a:rPr lang="en-US"/>
            <a:t>This was selected as the simpler quantization baseline before moving to QAT</a:t>
          </a:r>
        </a:p>
      </dgm:t>
    </dgm:pt>
    <dgm:pt modelId="{69226F6D-FA42-4D8D-BB8E-984B71288ED7}" type="parTrans" cxnId="{A5012A76-5D34-4D21-83DC-813B47FA70B0}">
      <dgm:prSet/>
      <dgm:spPr/>
      <dgm:t>
        <a:bodyPr/>
        <a:lstStyle/>
        <a:p>
          <a:endParaRPr lang="en-US"/>
        </a:p>
      </dgm:t>
    </dgm:pt>
    <dgm:pt modelId="{AA93DEF4-83D6-4FDC-84CA-6FD28DA7A3CE}" type="sibTrans" cxnId="{A5012A76-5D34-4D21-83DC-813B47FA70B0}">
      <dgm:prSet/>
      <dgm:spPr/>
      <dgm:t>
        <a:bodyPr/>
        <a:lstStyle/>
        <a:p>
          <a:endParaRPr lang="en-US"/>
        </a:p>
      </dgm:t>
    </dgm:pt>
    <dgm:pt modelId="{751D957E-6F2A-644F-939D-F556C6B3B1BC}" type="pres">
      <dgm:prSet presAssocID="{4839BF4E-5732-47BD-B451-51EF94AD5724}" presName="outerComposite" presStyleCnt="0">
        <dgm:presLayoutVars>
          <dgm:chMax val="5"/>
          <dgm:dir/>
          <dgm:resizeHandles val="exact"/>
        </dgm:presLayoutVars>
      </dgm:prSet>
      <dgm:spPr/>
    </dgm:pt>
    <dgm:pt modelId="{9C640F5C-7E7A-6346-BBDC-06A4EF3DC16E}" type="pres">
      <dgm:prSet presAssocID="{4839BF4E-5732-47BD-B451-51EF94AD5724}" presName="dummyMaxCanvas" presStyleCnt="0">
        <dgm:presLayoutVars/>
      </dgm:prSet>
      <dgm:spPr/>
    </dgm:pt>
    <dgm:pt modelId="{53E647F6-EB24-6643-ADF5-033015F42232}" type="pres">
      <dgm:prSet presAssocID="{4839BF4E-5732-47BD-B451-51EF94AD5724}" presName="FiveNodes_1" presStyleLbl="node1" presStyleIdx="0" presStyleCnt="5">
        <dgm:presLayoutVars>
          <dgm:bulletEnabled val="1"/>
        </dgm:presLayoutVars>
      </dgm:prSet>
      <dgm:spPr/>
    </dgm:pt>
    <dgm:pt modelId="{741FF6A5-8645-7C47-B532-6887AF2132A5}" type="pres">
      <dgm:prSet presAssocID="{4839BF4E-5732-47BD-B451-51EF94AD5724}" presName="FiveNodes_2" presStyleLbl="node1" presStyleIdx="1" presStyleCnt="5">
        <dgm:presLayoutVars>
          <dgm:bulletEnabled val="1"/>
        </dgm:presLayoutVars>
      </dgm:prSet>
      <dgm:spPr/>
    </dgm:pt>
    <dgm:pt modelId="{8D2A18A5-FEAA-2B4A-A710-9160B00FA42C}" type="pres">
      <dgm:prSet presAssocID="{4839BF4E-5732-47BD-B451-51EF94AD5724}" presName="FiveNodes_3" presStyleLbl="node1" presStyleIdx="2" presStyleCnt="5">
        <dgm:presLayoutVars>
          <dgm:bulletEnabled val="1"/>
        </dgm:presLayoutVars>
      </dgm:prSet>
      <dgm:spPr/>
    </dgm:pt>
    <dgm:pt modelId="{CD7A5102-30A2-9B4D-BD2E-E6BAC4D0B560}" type="pres">
      <dgm:prSet presAssocID="{4839BF4E-5732-47BD-B451-51EF94AD5724}" presName="FiveNodes_4" presStyleLbl="node1" presStyleIdx="3" presStyleCnt="5">
        <dgm:presLayoutVars>
          <dgm:bulletEnabled val="1"/>
        </dgm:presLayoutVars>
      </dgm:prSet>
      <dgm:spPr/>
    </dgm:pt>
    <dgm:pt modelId="{F0B58758-8930-1E4C-B61C-962334A8F517}" type="pres">
      <dgm:prSet presAssocID="{4839BF4E-5732-47BD-B451-51EF94AD5724}" presName="FiveNodes_5" presStyleLbl="node1" presStyleIdx="4" presStyleCnt="5">
        <dgm:presLayoutVars>
          <dgm:bulletEnabled val="1"/>
        </dgm:presLayoutVars>
      </dgm:prSet>
      <dgm:spPr/>
    </dgm:pt>
    <dgm:pt modelId="{C53FA96C-3452-CA43-BC8E-4359D2E6C851}" type="pres">
      <dgm:prSet presAssocID="{4839BF4E-5732-47BD-B451-51EF94AD5724}" presName="FiveConn_1-2" presStyleLbl="fgAccFollowNode1" presStyleIdx="0" presStyleCnt="4">
        <dgm:presLayoutVars>
          <dgm:bulletEnabled val="1"/>
        </dgm:presLayoutVars>
      </dgm:prSet>
      <dgm:spPr/>
    </dgm:pt>
    <dgm:pt modelId="{611E2114-E5DE-AF44-ACD2-BD01BF1B89FB}" type="pres">
      <dgm:prSet presAssocID="{4839BF4E-5732-47BD-B451-51EF94AD5724}" presName="FiveConn_2-3" presStyleLbl="fgAccFollowNode1" presStyleIdx="1" presStyleCnt="4">
        <dgm:presLayoutVars>
          <dgm:bulletEnabled val="1"/>
        </dgm:presLayoutVars>
      </dgm:prSet>
      <dgm:spPr/>
    </dgm:pt>
    <dgm:pt modelId="{48E3441C-2F07-CE4A-BC59-6A1AE339B0AB}" type="pres">
      <dgm:prSet presAssocID="{4839BF4E-5732-47BD-B451-51EF94AD5724}" presName="FiveConn_3-4" presStyleLbl="fgAccFollowNode1" presStyleIdx="2" presStyleCnt="4">
        <dgm:presLayoutVars>
          <dgm:bulletEnabled val="1"/>
        </dgm:presLayoutVars>
      </dgm:prSet>
      <dgm:spPr/>
    </dgm:pt>
    <dgm:pt modelId="{F034AA56-3EA7-4240-B991-C1873849B853}" type="pres">
      <dgm:prSet presAssocID="{4839BF4E-5732-47BD-B451-51EF94AD5724}" presName="FiveConn_4-5" presStyleLbl="fgAccFollowNode1" presStyleIdx="3" presStyleCnt="4">
        <dgm:presLayoutVars>
          <dgm:bulletEnabled val="1"/>
        </dgm:presLayoutVars>
      </dgm:prSet>
      <dgm:spPr/>
    </dgm:pt>
    <dgm:pt modelId="{D8D7C01E-F3C8-7447-8DC4-C1B166A74FE4}" type="pres">
      <dgm:prSet presAssocID="{4839BF4E-5732-47BD-B451-51EF94AD5724}" presName="FiveNodes_1_text" presStyleLbl="node1" presStyleIdx="4" presStyleCnt="5">
        <dgm:presLayoutVars>
          <dgm:bulletEnabled val="1"/>
        </dgm:presLayoutVars>
      </dgm:prSet>
      <dgm:spPr/>
    </dgm:pt>
    <dgm:pt modelId="{8C2C1041-4410-BB47-8A82-11D517E48816}" type="pres">
      <dgm:prSet presAssocID="{4839BF4E-5732-47BD-B451-51EF94AD5724}" presName="FiveNodes_2_text" presStyleLbl="node1" presStyleIdx="4" presStyleCnt="5">
        <dgm:presLayoutVars>
          <dgm:bulletEnabled val="1"/>
        </dgm:presLayoutVars>
      </dgm:prSet>
      <dgm:spPr/>
    </dgm:pt>
    <dgm:pt modelId="{BA5203DF-E078-904F-8A8C-D95315A673D2}" type="pres">
      <dgm:prSet presAssocID="{4839BF4E-5732-47BD-B451-51EF94AD5724}" presName="FiveNodes_3_text" presStyleLbl="node1" presStyleIdx="4" presStyleCnt="5">
        <dgm:presLayoutVars>
          <dgm:bulletEnabled val="1"/>
        </dgm:presLayoutVars>
      </dgm:prSet>
      <dgm:spPr/>
    </dgm:pt>
    <dgm:pt modelId="{0B6A0EC3-540D-5944-B1B6-247EDED0A655}" type="pres">
      <dgm:prSet presAssocID="{4839BF4E-5732-47BD-B451-51EF94AD5724}" presName="FiveNodes_4_text" presStyleLbl="node1" presStyleIdx="4" presStyleCnt="5">
        <dgm:presLayoutVars>
          <dgm:bulletEnabled val="1"/>
        </dgm:presLayoutVars>
      </dgm:prSet>
      <dgm:spPr/>
    </dgm:pt>
    <dgm:pt modelId="{A5403E7A-62D5-A14B-843A-D00695514D57}" type="pres">
      <dgm:prSet presAssocID="{4839BF4E-5732-47BD-B451-51EF94AD5724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D7F21004-2842-7442-966A-6B7D1662A73D}" type="presOf" srcId="{8F8EF145-2EB5-4B81-A4B7-687F15B35236}" destId="{BA5203DF-E078-904F-8A8C-D95315A673D2}" srcOrd="1" destOrd="0" presId="urn:microsoft.com/office/officeart/2005/8/layout/vProcess5"/>
    <dgm:cxn modelId="{AD435D26-49EC-784B-9354-5510024EE9E1}" type="presOf" srcId="{50CF050A-68C1-44C4-9923-770EE03E97D1}" destId="{0B6A0EC3-540D-5944-B1B6-247EDED0A655}" srcOrd="1" destOrd="0" presId="urn:microsoft.com/office/officeart/2005/8/layout/vProcess5"/>
    <dgm:cxn modelId="{59A9DE26-494D-D640-B530-1C88966AA988}" type="presOf" srcId="{BF8BA1E4-3725-4715-A55A-F078F8EFC0B0}" destId="{611E2114-E5DE-AF44-ACD2-BD01BF1B89FB}" srcOrd="0" destOrd="0" presId="urn:microsoft.com/office/officeart/2005/8/layout/vProcess5"/>
    <dgm:cxn modelId="{1C93E328-C2D0-3643-BE23-151C62D9F611}" type="presOf" srcId="{AF3F33A9-F46F-420F-894B-691CCEBD7D48}" destId="{F0B58758-8930-1E4C-B61C-962334A8F517}" srcOrd="0" destOrd="0" presId="urn:microsoft.com/office/officeart/2005/8/layout/vProcess5"/>
    <dgm:cxn modelId="{8C5E2033-403D-D54E-8646-D7DF3DD0E7F9}" type="presOf" srcId="{A18A3931-83E0-4B50-8BF4-3AB530B93931}" destId="{D8D7C01E-F3C8-7447-8DC4-C1B166A74FE4}" srcOrd="1" destOrd="0" presId="urn:microsoft.com/office/officeart/2005/8/layout/vProcess5"/>
    <dgm:cxn modelId="{46200B40-12D1-DD47-85B6-029087736CEE}" type="presOf" srcId="{A18A3931-83E0-4B50-8BF4-3AB530B93931}" destId="{53E647F6-EB24-6643-ADF5-033015F42232}" srcOrd="0" destOrd="0" presId="urn:microsoft.com/office/officeart/2005/8/layout/vProcess5"/>
    <dgm:cxn modelId="{54312B42-52BC-4412-BC93-F8A14C6B63EC}" srcId="{4839BF4E-5732-47BD-B451-51EF94AD5724}" destId="{9D259093-95B2-4358-8C6E-A0EB459A6893}" srcOrd="1" destOrd="0" parTransId="{3F55DB61-DD82-4FDE-8027-F590C1F40709}" sibTransId="{BF8BA1E4-3725-4715-A55A-F078F8EFC0B0}"/>
    <dgm:cxn modelId="{8F096C67-DD10-7549-B7EA-E3E8DA8E217A}" type="presOf" srcId="{9D259093-95B2-4358-8C6E-A0EB459A6893}" destId="{8C2C1041-4410-BB47-8A82-11D517E48816}" srcOrd="1" destOrd="0" presId="urn:microsoft.com/office/officeart/2005/8/layout/vProcess5"/>
    <dgm:cxn modelId="{4E67DC6A-D82D-2D4A-9AFA-84742BF77327}" type="presOf" srcId="{50CF050A-68C1-44C4-9923-770EE03E97D1}" destId="{CD7A5102-30A2-9B4D-BD2E-E6BAC4D0B560}" srcOrd="0" destOrd="0" presId="urn:microsoft.com/office/officeart/2005/8/layout/vProcess5"/>
    <dgm:cxn modelId="{A5012A76-5D34-4D21-83DC-813B47FA70B0}" srcId="{4839BF4E-5732-47BD-B451-51EF94AD5724}" destId="{AF3F33A9-F46F-420F-894B-691CCEBD7D48}" srcOrd="4" destOrd="0" parTransId="{69226F6D-FA42-4D8D-BB8E-984B71288ED7}" sibTransId="{AA93DEF4-83D6-4FDC-84CA-6FD28DA7A3CE}"/>
    <dgm:cxn modelId="{A246108D-0EC1-ED49-88AA-EE86CB266C76}" type="presOf" srcId="{4839BF4E-5732-47BD-B451-51EF94AD5724}" destId="{751D957E-6F2A-644F-939D-F556C6B3B1BC}" srcOrd="0" destOrd="0" presId="urn:microsoft.com/office/officeart/2005/8/layout/vProcess5"/>
    <dgm:cxn modelId="{7A68A8AB-857D-0D4A-BD28-A610D11C9145}" type="presOf" srcId="{AC0219D1-DB15-426C-9828-21AC50C06174}" destId="{48E3441C-2F07-CE4A-BC59-6A1AE339B0AB}" srcOrd="0" destOrd="0" presId="urn:microsoft.com/office/officeart/2005/8/layout/vProcess5"/>
    <dgm:cxn modelId="{80C874B6-9B41-4F78-83D5-5B46DE52206C}" srcId="{4839BF4E-5732-47BD-B451-51EF94AD5724}" destId="{A18A3931-83E0-4B50-8BF4-3AB530B93931}" srcOrd="0" destOrd="0" parTransId="{1BFAB0E5-024E-4665-AE13-80258738F31D}" sibTransId="{3988EDDF-4C30-47E8-96BC-EBC5F9AD0966}"/>
    <dgm:cxn modelId="{6D160CC9-9BFA-864E-9FA2-304322CE6788}" type="presOf" srcId="{036E508A-562D-4277-904E-80434B52F1AE}" destId="{F034AA56-3EA7-4240-B991-C1873849B853}" srcOrd="0" destOrd="0" presId="urn:microsoft.com/office/officeart/2005/8/layout/vProcess5"/>
    <dgm:cxn modelId="{D0AE37CC-3692-4696-8D3E-5668954DE0DE}" srcId="{4839BF4E-5732-47BD-B451-51EF94AD5724}" destId="{8F8EF145-2EB5-4B81-A4B7-687F15B35236}" srcOrd="2" destOrd="0" parTransId="{736DE126-9789-4D6E-852F-90F17443B7CA}" sibTransId="{AC0219D1-DB15-426C-9828-21AC50C06174}"/>
    <dgm:cxn modelId="{102191DB-570A-AC4D-B69A-6CB903DF6417}" type="presOf" srcId="{9D259093-95B2-4358-8C6E-A0EB459A6893}" destId="{741FF6A5-8645-7C47-B532-6887AF2132A5}" srcOrd="0" destOrd="0" presId="urn:microsoft.com/office/officeart/2005/8/layout/vProcess5"/>
    <dgm:cxn modelId="{347DE3DF-913F-6742-BB7A-8B214C16A7BB}" type="presOf" srcId="{3988EDDF-4C30-47E8-96BC-EBC5F9AD0966}" destId="{C53FA96C-3452-CA43-BC8E-4359D2E6C851}" srcOrd="0" destOrd="0" presId="urn:microsoft.com/office/officeart/2005/8/layout/vProcess5"/>
    <dgm:cxn modelId="{C6E27BE7-263C-47D4-B3D9-412CB27B0ECC}" srcId="{4839BF4E-5732-47BD-B451-51EF94AD5724}" destId="{50CF050A-68C1-44C4-9923-770EE03E97D1}" srcOrd="3" destOrd="0" parTransId="{114DE011-683F-4279-BF22-B0CB45F98EF5}" sibTransId="{036E508A-562D-4277-904E-80434B52F1AE}"/>
    <dgm:cxn modelId="{6E9949F2-682F-0C49-9438-80B2BEE2510D}" type="presOf" srcId="{AF3F33A9-F46F-420F-894B-691CCEBD7D48}" destId="{A5403E7A-62D5-A14B-843A-D00695514D57}" srcOrd="1" destOrd="0" presId="urn:microsoft.com/office/officeart/2005/8/layout/vProcess5"/>
    <dgm:cxn modelId="{A9B3E8F2-530F-6D46-9312-41774CD70346}" type="presOf" srcId="{8F8EF145-2EB5-4B81-A4B7-687F15B35236}" destId="{8D2A18A5-FEAA-2B4A-A710-9160B00FA42C}" srcOrd="0" destOrd="0" presId="urn:microsoft.com/office/officeart/2005/8/layout/vProcess5"/>
    <dgm:cxn modelId="{60EE980A-8649-7644-95B4-4E7547DA2EFB}" type="presParOf" srcId="{751D957E-6F2A-644F-939D-F556C6B3B1BC}" destId="{9C640F5C-7E7A-6346-BBDC-06A4EF3DC16E}" srcOrd="0" destOrd="0" presId="urn:microsoft.com/office/officeart/2005/8/layout/vProcess5"/>
    <dgm:cxn modelId="{894C0BCE-6F35-CE46-86C2-593F14C3862C}" type="presParOf" srcId="{751D957E-6F2A-644F-939D-F556C6B3B1BC}" destId="{53E647F6-EB24-6643-ADF5-033015F42232}" srcOrd="1" destOrd="0" presId="urn:microsoft.com/office/officeart/2005/8/layout/vProcess5"/>
    <dgm:cxn modelId="{A158DC24-572C-084A-81EB-79A685E06BB9}" type="presParOf" srcId="{751D957E-6F2A-644F-939D-F556C6B3B1BC}" destId="{741FF6A5-8645-7C47-B532-6887AF2132A5}" srcOrd="2" destOrd="0" presId="urn:microsoft.com/office/officeart/2005/8/layout/vProcess5"/>
    <dgm:cxn modelId="{5556CF69-B877-AF42-AA93-E2EBF8416E69}" type="presParOf" srcId="{751D957E-6F2A-644F-939D-F556C6B3B1BC}" destId="{8D2A18A5-FEAA-2B4A-A710-9160B00FA42C}" srcOrd="3" destOrd="0" presId="urn:microsoft.com/office/officeart/2005/8/layout/vProcess5"/>
    <dgm:cxn modelId="{F1828C05-53DC-2D42-ADF3-ED5A90C9FBE5}" type="presParOf" srcId="{751D957E-6F2A-644F-939D-F556C6B3B1BC}" destId="{CD7A5102-30A2-9B4D-BD2E-E6BAC4D0B560}" srcOrd="4" destOrd="0" presId="urn:microsoft.com/office/officeart/2005/8/layout/vProcess5"/>
    <dgm:cxn modelId="{DB98C4AF-3CE5-074E-8B78-05B01844740D}" type="presParOf" srcId="{751D957E-6F2A-644F-939D-F556C6B3B1BC}" destId="{F0B58758-8930-1E4C-B61C-962334A8F517}" srcOrd="5" destOrd="0" presId="urn:microsoft.com/office/officeart/2005/8/layout/vProcess5"/>
    <dgm:cxn modelId="{E4CC0A37-83CF-D444-B067-452CD06B8DCF}" type="presParOf" srcId="{751D957E-6F2A-644F-939D-F556C6B3B1BC}" destId="{C53FA96C-3452-CA43-BC8E-4359D2E6C851}" srcOrd="6" destOrd="0" presId="urn:microsoft.com/office/officeart/2005/8/layout/vProcess5"/>
    <dgm:cxn modelId="{7AE1CA0A-9B72-2F46-A71F-D4B9603CD6CD}" type="presParOf" srcId="{751D957E-6F2A-644F-939D-F556C6B3B1BC}" destId="{611E2114-E5DE-AF44-ACD2-BD01BF1B89FB}" srcOrd="7" destOrd="0" presId="urn:microsoft.com/office/officeart/2005/8/layout/vProcess5"/>
    <dgm:cxn modelId="{1A4EC54D-62FB-9D46-B453-67C509379D99}" type="presParOf" srcId="{751D957E-6F2A-644F-939D-F556C6B3B1BC}" destId="{48E3441C-2F07-CE4A-BC59-6A1AE339B0AB}" srcOrd="8" destOrd="0" presId="urn:microsoft.com/office/officeart/2005/8/layout/vProcess5"/>
    <dgm:cxn modelId="{838702B3-4343-D449-B695-95BB60D4DF08}" type="presParOf" srcId="{751D957E-6F2A-644F-939D-F556C6B3B1BC}" destId="{F034AA56-3EA7-4240-B991-C1873849B853}" srcOrd="9" destOrd="0" presId="urn:microsoft.com/office/officeart/2005/8/layout/vProcess5"/>
    <dgm:cxn modelId="{33800AB9-94D5-4B48-A93D-51AE7118F828}" type="presParOf" srcId="{751D957E-6F2A-644F-939D-F556C6B3B1BC}" destId="{D8D7C01E-F3C8-7447-8DC4-C1B166A74FE4}" srcOrd="10" destOrd="0" presId="urn:microsoft.com/office/officeart/2005/8/layout/vProcess5"/>
    <dgm:cxn modelId="{385FB652-96ED-D242-B341-D4990695CE5E}" type="presParOf" srcId="{751D957E-6F2A-644F-939D-F556C6B3B1BC}" destId="{8C2C1041-4410-BB47-8A82-11D517E48816}" srcOrd="11" destOrd="0" presId="urn:microsoft.com/office/officeart/2005/8/layout/vProcess5"/>
    <dgm:cxn modelId="{F3A2AE55-466A-2B40-BC9E-1443F456BE0C}" type="presParOf" srcId="{751D957E-6F2A-644F-939D-F556C6B3B1BC}" destId="{BA5203DF-E078-904F-8A8C-D95315A673D2}" srcOrd="12" destOrd="0" presId="urn:microsoft.com/office/officeart/2005/8/layout/vProcess5"/>
    <dgm:cxn modelId="{7305A724-1CFF-2941-9498-FF13976BEC5D}" type="presParOf" srcId="{751D957E-6F2A-644F-939D-F556C6B3B1BC}" destId="{0B6A0EC3-540D-5944-B1B6-247EDED0A655}" srcOrd="13" destOrd="0" presId="urn:microsoft.com/office/officeart/2005/8/layout/vProcess5"/>
    <dgm:cxn modelId="{7DE86007-37B1-664F-BC89-8AAF6C3D533C}" type="presParOf" srcId="{751D957E-6F2A-644F-939D-F556C6B3B1BC}" destId="{A5403E7A-62D5-A14B-843A-D00695514D57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F778D3C-EDC5-4044-9C90-6F32515A781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8BB8D59-453B-404B-9478-DCBEEB978084}">
      <dgm:prSet/>
      <dgm:spPr/>
      <dgm:t>
        <a:bodyPr/>
        <a:lstStyle/>
        <a:p>
          <a:pPr>
            <a:defRPr b="1"/>
          </a:pPr>
          <a:r>
            <a:rPr lang="en-US"/>
            <a:t>Best overall method: QAT</a:t>
          </a:r>
        </a:p>
      </dgm:t>
    </dgm:pt>
    <dgm:pt modelId="{8C9B14C1-8A13-4CB2-84D2-1E000EA6BDB6}" type="parTrans" cxnId="{F91C5E67-7787-429D-86D1-1A1A0E329C5D}">
      <dgm:prSet/>
      <dgm:spPr/>
      <dgm:t>
        <a:bodyPr/>
        <a:lstStyle/>
        <a:p>
          <a:endParaRPr lang="en-US"/>
        </a:p>
      </dgm:t>
    </dgm:pt>
    <dgm:pt modelId="{C03D4B1E-44BE-4749-B72A-CF4C7FF96426}" type="sibTrans" cxnId="{F91C5E67-7787-429D-86D1-1A1A0E329C5D}">
      <dgm:prSet/>
      <dgm:spPr/>
      <dgm:t>
        <a:bodyPr/>
        <a:lstStyle/>
        <a:p>
          <a:endParaRPr lang="en-US"/>
        </a:p>
      </dgm:t>
    </dgm:pt>
    <dgm:pt modelId="{CF042040-5C53-4082-8937-4D60546D527D}">
      <dgm:prSet/>
      <dgm:spPr/>
      <dgm:t>
        <a:bodyPr/>
        <a:lstStyle/>
        <a:p>
          <a:r>
            <a:rPr lang="en-US"/>
            <a:t>Accuracy: 88.39%</a:t>
          </a:r>
        </a:p>
      </dgm:t>
    </dgm:pt>
    <dgm:pt modelId="{0B3FB65E-2BEC-4816-9EBB-995F619EE9A5}" type="parTrans" cxnId="{C7BCD9BC-8FE2-436C-88D1-035A74247F80}">
      <dgm:prSet/>
      <dgm:spPr/>
      <dgm:t>
        <a:bodyPr/>
        <a:lstStyle/>
        <a:p>
          <a:endParaRPr lang="en-US"/>
        </a:p>
      </dgm:t>
    </dgm:pt>
    <dgm:pt modelId="{E74C8C0B-A6EC-45DC-B86A-9DBDCBDA5385}" type="sibTrans" cxnId="{C7BCD9BC-8FE2-436C-88D1-035A74247F80}">
      <dgm:prSet/>
      <dgm:spPr/>
      <dgm:t>
        <a:bodyPr/>
        <a:lstStyle/>
        <a:p>
          <a:endParaRPr lang="en-US"/>
        </a:p>
      </dgm:t>
    </dgm:pt>
    <dgm:pt modelId="{7251B811-5959-4EC1-938A-6D461A97137A}">
      <dgm:prSet/>
      <dgm:spPr/>
      <dgm:t>
        <a:bodyPr/>
        <a:lstStyle/>
        <a:p>
          <a:r>
            <a:rPr lang="en-US"/>
            <a:t>Loss: 0.315377</a:t>
          </a:r>
        </a:p>
      </dgm:t>
    </dgm:pt>
    <dgm:pt modelId="{1FC6F2B8-A993-4581-8CB3-60BCFD16CBF1}" type="parTrans" cxnId="{5CE0C47F-66C5-4065-B4EA-04D06823E1BD}">
      <dgm:prSet/>
      <dgm:spPr/>
      <dgm:t>
        <a:bodyPr/>
        <a:lstStyle/>
        <a:p>
          <a:endParaRPr lang="en-US"/>
        </a:p>
      </dgm:t>
    </dgm:pt>
    <dgm:pt modelId="{AB8496CD-6FE7-4683-A7DA-CCC6C97E5081}" type="sibTrans" cxnId="{5CE0C47F-66C5-4065-B4EA-04D06823E1BD}">
      <dgm:prSet/>
      <dgm:spPr/>
      <dgm:t>
        <a:bodyPr/>
        <a:lstStyle/>
        <a:p>
          <a:endParaRPr lang="en-US"/>
        </a:p>
      </dgm:t>
    </dgm:pt>
    <dgm:pt modelId="{21E55B88-E732-471B-B33A-5C323FF989AA}">
      <dgm:prSet/>
      <dgm:spPr/>
      <dgm:t>
        <a:bodyPr/>
        <a:lstStyle/>
        <a:p>
          <a:r>
            <a:rPr lang="en-US"/>
            <a:t>Size reduction: 74.75%</a:t>
          </a:r>
        </a:p>
      </dgm:t>
    </dgm:pt>
    <dgm:pt modelId="{3F202996-8623-45A9-A8BE-D373C96282BA}" type="parTrans" cxnId="{1A63950A-EB61-4A02-AC3A-CB395A0B62DD}">
      <dgm:prSet/>
      <dgm:spPr/>
      <dgm:t>
        <a:bodyPr/>
        <a:lstStyle/>
        <a:p>
          <a:endParaRPr lang="en-US"/>
        </a:p>
      </dgm:t>
    </dgm:pt>
    <dgm:pt modelId="{F286269C-9930-4E23-937D-FD3282AD78BB}" type="sibTrans" cxnId="{1A63950A-EB61-4A02-AC3A-CB395A0B62DD}">
      <dgm:prSet/>
      <dgm:spPr/>
      <dgm:t>
        <a:bodyPr/>
        <a:lstStyle/>
        <a:p>
          <a:endParaRPr lang="en-US"/>
        </a:p>
      </dgm:t>
    </dgm:pt>
    <dgm:pt modelId="{AD405DE1-C7E3-438A-AF9D-EC7AA9A0D27D}">
      <dgm:prSet/>
      <dgm:spPr/>
      <dgm:t>
        <a:bodyPr/>
        <a:lstStyle/>
        <a:p>
          <a:r>
            <a:rPr lang="en-US"/>
            <a:t>Reason: it achieved both stronger predictive performance and substantial compression</a:t>
          </a:r>
        </a:p>
      </dgm:t>
    </dgm:pt>
    <dgm:pt modelId="{9EC73AF1-C119-4AD4-B822-AE79D550E9F8}" type="parTrans" cxnId="{A621CD1C-E199-43A2-9C44-8A4D86CB757A}">
      <dgm:prSet/>
      <dgm:spPr/>
      <dgm:t>
        <a:bodyPr/>
        <a:lstStyle/>
        <a:p>
          <a:endParaRPr lang="en-US"/>
        </a:p>
      </dgm:t>
    </dgm:pt>
    <dgm:pt modelId="{701FD0B7-6A1B-4748-8D4C-808E30AD389B}" type="sibTrans" cxnId="{A621CD1C-E199-43A2-9C44-8A4D86CB757A}">
      <dgm:prSet/>
      <dgm:spPr/>
      <dgm:t>
        <a:bodyPr/>
        <a:lstStyle/>
        <a:p>
          <a:endParaRPr lang="en-US"/>
        </a:p>
      </dgm:t>
    </dgm:pt>
    <dgm:pt modelId="{82BD433F-641A-4042-AD64-690634898505}">
      <dgm:prSet/>
      <dgm:spPr/>
      <dgm:t>
        <a:bodyPr/>
        <a:lstStyle/>
        <a:p>
          <a:pPr>
            <a:defRPr b="1"/>
          </a:pPr>
          <a:r>
            <a:rPr lang="en-US"/>
            <a:t>Worst-performing method: Structured Pruning</a:t>
          </a:r>
        </a:p>
      </dgm:t>
    </dgm:pt>
    <dgm:pt modelId="{D56160C6-CC98-4965-8933-2D78DF67D3C0}" type="parTrans" cxnId="{C3B18178-ACCD-4EAA-8980-000EB33A3BD0}">
      <dgm:prSet/>
      <dgm:spPr/>
      <dgm:t>
        <a:bodyPr/>
        <a:lstStyle/>
        <a:p>
          <a:endParaRPr lang="en-US"/>
        </a:p>
      </dgm:t>
    </dgm:pt>
    <dgm:pt modelId="{4C1B3FB9-EE94-474C-B485-B23E00691790}" type="sibTrans" cxnId="{C3B18178-ACCD-4EAA-8980-000EB33A3BD0}">
      <dgm:prSet/>
      <dgm:spPr/>
      <dgm:t>
        <a:bodyPr/>
        <a:lstStyle/>
        <a:p>
          <a:endParaRPr lang="en-US"/>
        </a:p>
      </dgm:t>
    </dgm:pt>
    <dgm:pt modelId="{498E1A7D-B8F2-4C81-B0E2-4A1449594D77}">
      <dgm:prSet/>
      <dgm:spPr/>
      <dgm:t>
        <a:bodyPr/>
        <a:lstStyle/>
        <a:p>
          <a:r>
            <a:rPr lang="en-US"/>
            <a:t>Accuracy: 25.25%</a:t>
          </a:r>
        </a:p>
      </dgm:t>
    </dgm:pt>
    <dgm:pt modelId="{0819E4E5-3BB7-44F4-8C52-16F5EBB4C1CA}" type="parTrans" cxnId="{87081BDF-EB2F-4010-AB2E-3EFAEA9D3487}">
      <dgm:prSet/>
      <dgm:spPr/>
      <dgm:t>
        <a:bodyPr/>
        <a:lstStyle/>
        <a:p>
          <a:endParaRPr lang="en-US"/>
        </a:p>
      </dgm:t>
    </dgm:pt>
    <dgm:pt modelId="{45A5240F-F3E1-4B17-97F9-D4A269DCA18D}" type="sibTrans" cxnId="{87081BDF-EB2F-4010-AB2E-3EFAEA9D3487}">
      <dgm:prSet/>
      <dgm:spPr/>
      <dgm:t>
        <a:bodyPr/>
        <a:lstStyle/>
        <a:p>
          <a:endParaRPr lang="en-US"/>
        </a:p>
      </dgm:t>
    </dgm:pt>
    <dgm:pt modelId="{3F090A08-3A4C-4173-96B1-021D7563F137}">
      <dgm:prSet/>
      <dgm:spPr/>
      <dgm:t>
        <a:bodyPr/>
        <a:lstStyle/>
        <a:p>
          <a:r>
            <a:rPr lang="en-US"/>
            <a:t>Loss: 2.179118</a:t>
          </a:r>
        </a:p>
      </dgm:t>
    </dgm:pt>
    <dgm:pt modelId="{4A2F8A15-604E-419C-9076-6C86A47A6CC0}" type="parTrans" cxnId="{65B85720-4D6F-4868-96AC-133E61F78B2E}">
      <dgm:prSet/>
      <dgm:spPr/>
      <dgm:t>
        <a:bodyPr/>
        <a:lstStyle/>
        <a:p>
          <a:endParaRPr lang="en-US"/>
        </a:p>
      </dgm:t>
    </dgm:pt>
    <dgm:pt modelId="{E3ADC1DE-9371-4719-85A6-D87C8D25DB35}" type="sibTrans" cxnId="{65B85720-4D6F-4868-96AC-133E61F78B2E}">
      <dgm:prSet/>
      <dgm:spPr/>
      <dgm:t>
        <a:bodyPr/>
        <a:lstStyle/>
        <a:p>
          <a:endParaRPr lang="en-US"/>
        </a:p>
      </dgm:t>
    </dgm:pt>
    <dgm:pt modelId="{8C9C5759-14EB-4FDA-8AC2-F6AB3124719E}">
      <dgm:prSet/>
      <dgm:spPr/>
      <dgm:t>
        <a:bodyPr/>
        <a:lstStyle/>
        <a:p>
          <a:r>
            <a:rPr lang="en-US"/>
            <a:t>Structured sparsity: 30.02%</a:t>
          </a:r>
        </a:p>
      </dgm:t>
    </dgm:pt>
    <dgm:pt modelId="{FE5A987C-CD23-468D-BD9C-40ECA764459F}" type="parTrans" cxnId="{5416D9B7-0174-4E1F-A959-40402D2516A2}">
      <dgm:prSet/>
      <dgm:spPr/>
      <dgm:t>
        <a:bodyPr/>
        <a:lstStyle/>
        <a:p>
          <a:endParaRPr lang="en-US"/>
        </a:p>
      </dgm:t>
    </dgm:pt>
    <dgm:pt modelId="{27DB5208-97B6-4824-A015-AF65DC36948C}" type="sibTrans" cxnId="{5416D9B7-0174-4E1F-A959-40402D2516A2}">
      <dgm:prSet/>
      <dgm:spPr/>
      <dgm:t>
        <a:bodyPr/>
        <a:lstStyle/>
        <a:p>
          <a:endParaRPr lang="en-US"/>
        </a:p>
      </dgm:t>
    </dgm:pt>
    <dgm:pt modelId="{F37F54FF-C849-4D90-A0D7-1C17349CA643}">
      <dgm:prSet/>
      <dgm:spPr/>
      <dgm:t>
        <a:bodyPr/>
        <a:lstStyle/>
        <a:p>
          <a:r>
            <a:rPr lang="en-US"/>
            <a:t>Reason: it removed full structured units and was too destructive without recovery or fine-tuning</a:t>
          </a:r>
        </a:p>
      </dgm:t>
    </dgm:pt>
    <dgm:pt modelId="{906B276F-D368-42A0-B40F-D376EF67D98E}" type="parTrans" cxnId="{E943C1A3-B2CA-47A6-BDAB-7964FDF022C7}">
      <dgm:prSet/>
      <dgm:spPr/>
      <dgm:t>
        <a:bodyPr/>
        <a:lstStyle/>
        <a:p>
          <a:endParaRPr lang="en-US"/>
        </a:p>
      </dgm:t>
    </dgm:pt>
    <dgm:pt modelId="{40628095-01FA-423C-9304-55C64E792A8A}" type="sibTrans" cxnId="{E943C1A3-B2CA-47A6-BDAB-7964FDF022C7}">
      <dgm:prSet/>
      <dgm:spPr/>
      <dgm:t>
        <a:bodyPr/>
        <a:lstStyle/>
        <a:p>
          <a:endParaRPr lang="en-US"/>
        </a:p>
      </dgm:t>
    </dgm:pt>
    <dgm:pt modelId="{3D4267EC-F883-41BF-9095-789C434C376C}" type="pres">
      <dgm:prSet presAssocID="{9F778D3C-EDC5-4044-9C90-6F32515A7813}" presName="root" presStyleCnt="0">
        <dgm:presLayoutVars>
          <dgm:dir/>
          <dgm:resizeHandles val="exact"/>
        </dgm:presLayoutVars>
      </dgm:prSet>
      <dgm:spPr/>
    </dgm:pt>
    <dgm:pt modelId="{04DC0D4B-5A6C-45F4-AAEE-308CD4EB3C19}" type="pres">
      <dgm:prSet presAssocID="{F8BB8D59-453B-404B-9478-DCBEEB978084}" presName="compNode" presStyleCnt="0"/>
      <dgm:spPr/>
    </dgm:pt>
    <dgm:pt modelId="{E5EC295F-D5BB-4382-85D4-8C1F10942DC0}" type="pres">
      <dgm:prSet presAssocID="{F8BB8D59-453B-404B-9478-DCBEEB978084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728D3239-50B7-48C2-97B9-9A2855984E4F}" type="pres">
      <dgm:prSet presAssocID="{F8BB8D59-453B-404B-9478-DCBEEB978084}" presName="iconSpace" presStyleCnt="0"/>
      <dgm:spPr/>
    </dgm:pt>
    <dgm:pt modelId="{3AE97F4D-250A-4316-9BA1-5668C229ADAA}" type="pres">
      <dgm:prSet presAssocID="{F8BB8D59-453B-404B-9478-DCBEEB978084}" presName="parTx" presStyleLbl="revTx" presStyleIdx="0" presStyleCnt="4">
        <dgm:presLayoutVars>
          <dgm:chMax val="0"/>
          <dgm:chPref val="0"/>
        </dgm:presLayoutVars>
      </dgm:prSet>
      <dgm:spPr/>
    </dgm:pt>
    <dgm:pt modelId="{55236ED2-9602-46AD-B9EB-D8C7561B1C1D}" type="pres">
      <dgm:prSet presAssocID="{F8BB8D59-453B-404B-9478-DCBEEB978084}" presName="txSpace" presStyleCnt="0"/>
      <dgm:spPr/>
    </dgm:pt>
    <dgm:pt modelId="{2EAD6775-B7AD-40CE-B8C0-54EEBD7929C1}" type="pres">
      <dgm:prSet presAssocID="{F8BB8D59-453B-404B-9478-DCBEEB978084}" presName="desTx" presStyleLbl="revTx" presStyleIdx="1" presStyleCnt="4">
        <dgm:presLayoutVars/>
      </dgm:prSet>
      <dgm:spPr/>
    </dgm:pt>
    <dgm:pt modelId="{F15FC7FF-6783-4E2D-A98B-C31FA6429099}" type="pres">
      <dgm:prSet presAssocID="{C03D4B1E-44BE-4749-B72A-CF4C7FF96426}" presName="sibTrans" presStyleCnt="0"/>
      <dgm:spPr/>
    </dgm:pt>
    <dgm:pt modelId="{BA0C8F64-AA47-47C7-A0F8-CA0F1082BCFB}" type="pres">
      <dgm:prSet presAssocID="{82BD433F-641A-4042-AD64-690634898505}" presName="compNode" presStyleCnt="0"/>
      <dgm:spPr/>
    </dgm:pt>
    <dgm:pt modelId="{7504C02A-C851-400C-B235-CF8482F2B638}" type="pres">
      <dgm:prSet presAssocID="{82BD433F-641A-4042-AD64-690634898505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7F2F932D-34CC-4C8B-BCE9-0A46102102AA}" type="pres">
      <dgm:prSet presAssocID="{82BD433F-641A-4042-AD64-690634898505}" presName="iconSpace" presStyleCnt="0"/>
      <dgm:spPr/>
    </dgm:pt>
    <dgm:pt modelId="{10602A44-1FCF-4D8D-A3CA-203A1562F9EB}" type="pres">
      <dgm:prSet presAssocID="{82BD433F-641A-4042-AD64-690634898505}" presName="parTx" presStyleLbl="revTx" presStyleIdx="2" presStyleCnt="4">
        <dgm:presLayoutVars>
          <dgm:chMax val="0"/>
          <dgm:chPref val="0"/>
        </dgm:presLayoutVars>
      </dgm:prSet>
      <dgm:spPr/>
    </dgm:pt>
    <dgm:pt modelId="{86E947A8-166C-4269-88AB-ED7DF482C5A1}" type="pres">
      <dgm:prSet presAssocID="{82BD433F-641A-4042-AD64-690634898505}" presName="txSpace" presStyleCnt="0"/>
      <dgm:spPr/>
    </dgm:pt>
    <dgm:pt modelId="{702D9151-3E2C-4279-8632-A9A41E554020}" type="pres">
      <dgm:prSet presAssocID="{82BD433F-641A-4042-AD64-690634898505}" presName="desTx" presStyleLbl="revTx" presStyleIdx="3" presStyleCnt="4">
        <dgm:presLayoutVars/>
      </dgm:prSet>
      <dgm:spPr/>
    </dgm:pt>
  </dgm:ptLst>
  <dgm:cxnLst>
    <dgm:cxn modelId="{1A63950A-EB61-4A02-AC3A-CB395A0B62DD}" srcId="{F8BB8D59-453B-404B-9478-DCBEEB978084}" destId="{21E55B88-E732-471B-B33A-5C323FF989AA}" srcOrd="2" destOrd="0" parTransId="{3F202996-8623-45A9-A8BE-D373C96282BA}" sibTransId="{F286269C-9930-4E23-937D-FD3282AD78BB}"/>
    <dgm:cxn modelId="{A621CD1C-E199-43A2-9C44-8A4D86CB757A}" srcId="{F8BB8D59-453B-404B-9478-DCBEEB978084}" destId="{AD405DE1-C7E3-438A-AF9D-EC7AA9A0D27D}" srcOrd="3" destOrd="0" parTransId="{9EC73AF1-C119-4AD4-B822-AE79D550E9F8}" sibTransId="{701FD0B7-6A1B-4748-8D4C-808E30AD389B}"/>
    <dgm:cxn modelId="{65B85720-4D6F-4868-96AC-133E61F78B2E}" srcId="{82BD433F-641A-4042-AD64-690634898505}" destId="{3F090A08-3A4C-4173-96B1-021D7563F137}" srcOrd="1" destOrd="0" parTransId="{4A2F8A15-604E-419C-9076-6C86A47A6CC0}" sibTransId="{E3ADC1DE-9371-4719-85A6-D87C8D25DB35}"/>
    <dgm:cxn modelId="{3FA0022F-7173-4A85-881B-B8902633F170}" type="presOf" srcId="{498E1A7D-B8F2-4C81-B0E2-4A1449594D77}" destId="{702D9151-3E2C-4279-8632-A9A41E554020}" srcOrd="0" destOrd="0" presId="urn:microsoft.com/office/officeart/2018/5/layout/CenteredIconLabelDescriptionList"/>
    <dgm:cxn modelId="{2E03A63A-53FC-4C4F-AFEE-1E68652B93CA}" type="presOf" srcId="{7251B811-5959-4EC1-938A-6D461A97137A}" destId="{2EAD6775-B7AD-40CE-B8C0-54EEBD7929C1}" srcOrd="0" destOrd="1" presId="urn:microsoft.com/office/officeart/2018/5/layout/CenteredIconLabelDescriptionList"/>
    <dgm:cxn modelId="{5DE6A03B-53FD-4914-A824-7704D106DCF9}" type="presOf" srcId="{F8BB8D59-453B-404B-9478-DCBEEB978084}" destId="{3AE97F4D-250A-4316-9BA1-5668C229ADAA}" srcOrd="0" destOrd="0" presId="urn:microsoft.com/office/officeart/2018/5/layout/CenteredIconLabelDescriptionList"/>
    <dgm:cxn modelId="{F91C5E67-7787-429D-86D1-1A1A0E329C5D}" srcId="{9F778D3C-EDC5-4044-9C90-6F32515A7813}" destId="{F8BB8D59-453B-404B-9478-DCBEEB978084}" srcOrd="0" destOrd="0" parTransId="{8C9B14C1-8A13-4CB2-84D2-1E000EA6BDB6}" sibTransId="{C03D4B1E-44BE-4749-B72A-CF4C7FF96426}"/>
    <dgm:cxn modelId="{C3B18178-ACCD-4EAA-8980-000EB33A3BD0}" srcId="{9F778D3C-EDC5-4044-9C90-6F32515A7813}" destId="{82BD433F-641A-4042-AD64-690634898505}" srcOrd="1" destOrd="0" parTransId="{D56160C6-CC98-4965-8933-2D78DF67D3C0}" sibTransId="{4C1B3FB9-EE94-474C-B485-B23E00691790}"/>
    <dgm:cxn modelId="{B363207A-C208-4E44-BE9E-1A4F87EF33A8}" type="presOf" srcId="{F37F54FF-C849-4D90-A0D7-1C17349CA643}" destId="{702D9151-3E2C-4279-8632-A9A41E554020}" srcOrd="0" destOrd="3" presId="urn:microsoft.com/office/officeart/2018/5/layout/CenteredIconLabelDescriptionList"/>
    <dgm:cxn modelId="{5CE0C47F-66C5-4065-B4EA-04D06823E1BD}" srcId="{F8BB8D59-453B-404B-9478-DCBEEB978084}" destId="{7251B811-5959-4EC1-938A-6D461A97137A}" srcOrd="1" destOrd="0" parTransId="{1FC6F2B8-A993-4581-8CB3-60BCFD16CBF1}" sibTransId="{AB8496CD-6FE7-4683-A7DA-CCC6C97E5081}"/>
    <dgm:cxn modelId="{F372D984-2615-4C8F-9AC1-B747D30E91A1}" type="presOf" srcId="{21E55B88-E732-471B-B33A-5C323FF989AA}" destId="{2EAD6775-B7AD-40CE-B8C0-54EEBD7929C1}" srcOrd="0" destOrd="2" presId="urn:microsoft.com/office/officeart/2018/5/layout/CenteredIconLabelDescriptionList"/>
    <dgm:cxn modelId="{C71CD299-2F00-4C49-832D-09CA303686C2}" type="presOf" srcId="{9F778D3C-EDC5-4044-9C90-6F32515A7813}" destId="{3D4267EC-F883-41BF-9095-789C434C376C}" srcOrd="0" destOrd="0" presId="urn:microsoft.com/office/officeart/2018/5/layout/CenteredIconLabelDescriptionList"/>
    <dgm:cxn modelId="{E943C1A3-B2CA-47A6-BDAB-7964FDF022C7}" srcId="{82BD433F-641A-4042-AD64-690634898505}" destId="{F37F54FF-C849-4D90-A0D7-1C17349CA643}" srcOrd="3" destOrd="0" parTransId="{906B276F-D368-42A0-B40F-D376EF67D98E}" sibTransId="{40628095-01FA-423C-9304-55C64E792A8A}"/>
    <dgm:cxn modelId="{5416D9B7-0174-4E1F-A959-40402D2516A2}" srcId="{82BD433F-641A-4042-AD64-690634898505}" destId="{8C9C5759-14EB-4FDA-8AC2-F6AB3124719E}" srcOrd="2" destOrd="0" parTransId="{FE5A987C-CD23-468D-BD9C-40ECA764459F}" sibTransId="{27DB5208-97B6-4824-A015-AF65DC36948C}"/>
    <dgm:cxn modelId="{C7BCD9BC-8FE2-436C-88D1-035A74247F80}" srcId="{F8BB8D59-453B-404B-9478-DCBEEB978084}" destId="{CF042040-5C53-4082-8937-4D60546D527D}" srcOrd="0" destOrd="0" parTransId="{0B3FB65E-2BEC-4816-9EBB-995F619EE9A5}" sibTransId="{E74C8C0B-A6EC-45DC-B86A-9DBDCBDA5385}"/>
    <dgm:cxn modelId="{D4C05CD7-6325-4674-ADDF-F0CFC9F55D19}" type="presOf" srcId="{AD405DE1-C7E3-438A-AF9D-EC7AA9A0D27D}" destId="{2EAD6775-B7AD-40CE-B8C0-54EEBD7929C1}" srcOrd="0" destOrd="3" presId="urn:microsoft.com/office/officeart/2018/5/layout/CenteredIconLabelDescriptionList"/>
    <dgm:cxn modelId="{9223DFD8-D37F-449B-9D98-D69C68CADC8F}" type="presOf" srcId="{CF042040-5C53-4082-8937-4D60546D527D}" destId="{2EAD6775-B7AD-40CE-B8C0-54EEBD7929C1}" srcOrd="0" destOrd="0" presId="urn:microsoft.com/office/officeart/2018/5/layout/CenteredIconLabelDescriptionList"/>
    <dgm:cxn modelId="{3EC922DC-1576-4DD2-B119-38AE6286D002}" type="presOf" srcId="{8C9C5759-14EB-4FDA-8AC2-F6AB3124719E}" destId="{702D9151-3E2C-4279-8632-A9A41E554020}" srcOrd="0" destOrd="2" presId="urn:microsoft.com/office/officeart/2018/5/layout/CenteredIconLabelDescriptionList"/>
    <dgm:cxn modelId="{87081BDF-EB2F-4010-AB2E-3EFAEA9D3487}" srcId="{82BD433F-641A-4042-AD64-690634898505}" destId="{498E1A7D-B8F2-4C81-B0E2-4A1449594D77}" srcOrd="0" destOrd="0" parTransId="{0819E4E5-3BB7-44F4-8C52-16F5EBB4C1CA}" sibTransId="{45A5240F-F3E1-4B17-97F9-D4A269DCA18D}"/>
    <dgm:cxn modelId="{ADB181EB-0308-42D6-8828-3FAC951CC2DB}" type="presOf" srcId="{82BD433F-641A-4042-AD64-690634898505}" destId="{10602A44-1FCF-4D8D-A3CA-203A1562F9EB}" srcOrd="0" destOrd="0" presId="urn:microsoft.com/office/officeart/2018/5/layout/CenteredIconLabelDescriptionList"/>
    <dgm:cxn modelId="{1F6C1BF1-918B-4C2F-BDD3-E91A86259D14}" type="presOf" srcId="{3F090A08-3A4C-4173-96B1-021D7563F137}" destId="{702D9151-3E2C-4279-8632-A9A41E554020}" srcOrd="0" destOrd="1" presId="urn:microsoft.com/office/officeart/2018/5/layout/CenteredIconLabelDescriptionList"/>
    <dgm:cxn modelId="{6AEDEC4E-52FC-4E30-9BEE-C4011CA38008}" type="presParOf" srcId="{3D4267EC-F883-41BF-9095-789C434C376C}" destId="{04DC0D4B-5A6C-45F4-AAEE-308CD4EB3C19}" srcOrd="0" destOrd="0" presId="urn:microsoft.com/office/officeart/2018/5/layout/CenteredIconLabelDescriptionList"/>
    <dgm:cxn modelId="{0C78D149-53C6-41AA-84A5-A416CD3553F6}" type="presParOf" srcId="{04DC0D4B-5A6C-45F4-AAEE-308CD4EB3C19}" destId="{E5EC295F-D5BB-4382-85D4-8C1F10942DC0}" srcOrd="0" destOrd="0" presId="urn:microsoft.com/office/officeart/2018/5/layout/CenteredIconLabelDescriptionList"/>
    <dgm:cxn modelId="{4A91A9E9-EBE6-48F9-B796-3DDDF3026B43}" type="presParOf" srcId="{04DC0D4B-5A6C-45F4-AAEE-308CD4EB3C19}" destId="{728D3239-50B7-48C2-97B9-9A2855984E4F}" srcOrd="1" destOrd="0" presId="urn:microsoft.com/office/officeart/2018/5/layout/CenteredIconLabelDescriptionList"/>
    <dgm:cxn modelId="{06AF55E3-5C8B-4F78-A24D-4C8F770B5692}" type="presParOf" srcId="{04DC0D4B-5A6C-45F4-AAEE-308CD4EB3C19}" destId="{3AE97F4D-250A-4316-9BA1-5668C229ADAA}" srcOrd="2" destOrd="0" presId="urn:microsoft.com/office/officeart/2018/5/layout/CenteredIconLabelDescriptionList"/>
    <dgm:cxn modelId="{D9C8DD3E-86A0-48FC-A8FB-625B77FC46DE}" type="presParOf" srcId="{04DC0D4B-5A6C-45F4-AAEE-308CD4EB3C19}" destId="{55236ED2-9602-46AD-B9EB-D8C7561B1C1D}" srcOrd="3" destOrd="0" presId="urn:microsoft.com/office/officeart/2018/5/layout/CenteredIconLabelDescriptionList"/>
    <dgm:cxn modelId="{0B0B69D2-69FC-4644-BF16-9CF2B2786519}" type="presParOf" srcId="{04DC0D4B-5A6C-45F4-AAEE-308CD4EB3C19}" destId="{2EAD6775-B7AD-40CE-B8C0-54EEBD7929C1}" srcOrd="4" destOrd="0" presId="urn:microsoft.com/office/officeart/2018/5/layout/CenteredIconLabelDescriptionList"/>
    <dgm:cxn modelId="{106B2256-B184-4A0E-95F8-764C48758D60}" type="presParOf" srcId="{3D4267EC-F883-41BF-9095-789C434C376C}" destId="{F15FC7FF-6783-4E2D-A98B-C31FA6429099}" srcOrd="1" destOrd="0" presId="urn:microsoft.com/office/officeart/2018/5/layout/CenteredIconLabelDescriptionList"/>
    <dgm:cxn modelId="{1217F037-F3E3-4BAA-80BA-3F37BD70E2CE}" type="presParOf" srcId="{3D4267EC-F883-41BF-9095-789C434C376C}" destId="{BA0C8F64-AA47-47C7-A0F8-CA0F1082BCFB}" srcOrd="2" destOrd="0" presId="urn:microsoft.com/office/officeart/2018/5/layout/CenteredIconLabelDescriptionList"/>
    <dgm:cxn modelId="{24A159E1-97C3-4BC5-9E78-61B482DEF96D}" type="presParOf" srcId="{BA0C8F64-AA47-47C7-A0F8-CA0F1082BCFB}" destId="{7504C02A-C851-400C-B235-CF8482F2B638}" srcOrd="0" destOrd="0" presId="urn:microsoft.com/office/officeart/2018/5/layout/CenteredIconLabelDescriptionList"/>
    <dgm:cxn modelId="{28D1F238-E67D-4FDE-B24F-ED7C2FD223C2}" type="presParOf" srcId="{BA0C8F64-AA47-47C7-A0F8-CA0F1082BCFB}" destId="{7F2F932D-34CC-4C8B-BCE9-0A46102102AA}" srcOrd="1" destOrd="0" presId="urn:microsoft.com/office/officeart/2018/5/layout/CenteredIconLabelDescriptionList"/>
    <dgm:cxn modelId="{911AA771-3CDC-4616-9A02-05085A7F9F3F}" type="presParOf" srcId="{BA0C8F64-AA47-47C7-A0F8-CA0F1082BCFB}" destId="{10602A44-1FCF-4D8D-A3CA-203A1562F9EB}" srcOrd="2" destOrd="0" presId="urn:microsoft.com/office/officeart/2018/5/layout/CenteredIconLabelDescriptionList"/>
    <dgm:cxn modelId="{563556F0-DCDD-4BB3-A724-6A161D1A7178}" type="presParOf" srcId="{BA0C8F64-AA47-47C7-A0F8-CA0F1082BCFB}" destId="{86E947A8-166C-4269-88AB-ED7DF482C5A1}" srcOrd="3" destOrd="0" presId="urn:microsoft.com/office/officeart/2018/5/layout/CenteredIconLabelDescriptionList"/>
    <dgm:cxn modelId="{D987007E-1763-4FA2-A612-47AF51AAAEED}" type="presParOf" srcId="{BA0C8F64-AA47-47C7-A0F8-CA0F1082BCFB}" destId="{702D9151-3E2C-4279-8632-A9A41E55402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448F0D-7959-45AE-B449-7ABA37783BBC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972809-AECC-4AD4-8D3B-44C7937ACB45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371A6A-9DE2-433C-B692-0AA0D7F6CF73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Quantization</a:t>
          </a:r>
          <a:r>
            <a:rPr lang="en-US" sz="1800" kern="1200"/>
            <a:t> reduces numerical precision of model parameters, and sometimes activations, to smaller representations such as INT8</a:t>
          </a:r>
        </a:p>
      </dsp:txBody>
      <dsp:txXfrm>
        <a:off x="1948202" y="368029"/>
        <a:ext cx="3233964" cy="1371985"/>
      </dsp:txXfrm>
    </dsp:sp>
    <dsp:sp modelId="{6A67554E-F1FE-4799-96B3-F7162C18A0C1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F9A6CB-DA67-4EA3-879E-B1BBEF21E600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2F5558-BE62-4C2B-BB21-340B61AD819A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Purpose</a:t>
          </a:r>
          <a:r>
            <a:rPr lang="en-US" sz="1800" kern="1200"/>
            <a:t>: smaller model, cheaper inference, lower memory footprint, better deployability</a:t>
          </a:r>
        </a:p>
      </dsp:txBody>
      <dsp:txXfrm>
        <a:off x="7411643" y="368029"/>
        <a:ext cx="3233964" cy="1371985"/>
      </dsp:txXfrm>
    </dsp:sp>
    <dsp:sp modelId="{61FE1961-1D18-4E73-8022-7FB72C9CD512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62AD5-69A2-4B67-9D05-35FB6F6A937A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A75BA9-EB01-40B3-994A-D7D3E40EF4D3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Advantages</a:t>
          </a:r>
          <a:r>
            <a:rPr lang="en-US" sz="1800" kern="1200"/>
            <a:t>: can reduce model size and inference cost</a:t>
          </a:r>
        </a:p>
      </dsp:txBody>
      <dsp:txXfrm>
        <a:off x="1948202" y="2452790"/>
        <a:ext cx="3233964" cy="1371985"/>
      </dsp:txXfrm>
    </dsp:sp>
    <dsp:sp modelId="{3BE2A6BA-8BBE-43BB-90D1-1765141BC1E8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4888DB-A9E9-49DD-8957-9E365712EA73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BD66EC-45F6-4171-B1F9-08CE5715120B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Disadvantages</a:t>
          </a:r>
          <a:r>
            <a:rPr lang="en-US" sz="1800" kern="1200"/>
            <a:t>: may reduce accuracy, may depend on hardware support, and may affect only part of the architecture depending on method</a:t>
          </a:r>
        </a:p>
      </dsp:txBody>
      <dsp:txXfrm>
        <a:off x="7411643" y="2452790"/>
        <a:ext cx="3233964" cy="13719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E647F6-EB24-6643-ADF5-033015F42232}">
      <dsp:nvSpPr>
        <dsp:cNvPr id="0" name=""/>
        <dsp:cNvSpPr/>
      </dsp:nvSpPr>
      <dsp:spPr>
        <a:xfrm>
          <a:off x="0" y="0"/>
          <a:ext cx="8414428" cy="75470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 first trained the float baseline model normally</a:t>
          </a:r>
        </a:p>
      </dsp:txBody>
      <dsp:txXfrm>
        <a:off x="22105" y="22105"/>
        <a:ext cx="7511741" cy="710494"/>
      </dsp:txXfrm>
    </dsp:sp>
    <dsp:sp modelId="{741FF6A5-8645-7C47-B532-6887AF2132A5}">
      <dsp:nvSpPr>
        <dsp:cNvPr id="0" name=""/>
        <dsp:cNvSpPr/>
      </dsp:nvSpPr>
      <dsp:spPr>
        <a:xfrm>
          <a:off x="628350" y="859525"/>
          <a:ext cx="8414428" cy="754704"/>
        </a:xfrm>
        <a:prstGeom prst="roundRect">
          <a:avLst>
            <a:gd name="adj" fmla="val 10000"/>
          </a:avLst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After training, I applied post-training dynamic quantization (PTQ)</a:t>
          </a:r>
        </a:p>
      </dsp:txBody>
      <dsp:txXfrm>
        <a:off x="650455" y="881630"/>
        <a:ext cx="7251309" cy="710494"/>
      </dsp:txXfrm>
    </dsp:sp>
    <dsp:sp modelId="{8D2A18A5-FEAA-2B4A-A710-9160B00FA42C}">
      <dsp:nvSpPr>
        <dsp:cNvPr id="0" name=""/>
        <dsp:cNvSpPr/>
      </dsp:nvSpPr>
      <dsp:spPr>
        <a:xfrm>
          <a:off x="1256700" y="1719050"/>
          <a:ext cx="8414428" cy="754704"/>
        </a:xfrm>
        <a:prstGeom prst="roundRect">
          <a:avLst>
            <a:gd name="adj" fmla="val 10000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main function used was quantize_dynamic(...)</a:t>
          </a:r>
        </a:p>
      </dsp:txBody>
      <dsp:txXfrm>
        <a:off x="1278805" y="1741155"/>
        <a:ext cx="7251309" cy="710494"/>
      </dsp:txXfrm>
    </dsp:sp>
    <dsp:sp modelId="{CD7A5102-30A2-9B4D-BD2E-E6BAC4D0B560}">
      <dsp:nvSpPr>
        <dsp:cNvPr id="0" name=""/>
        <dsp:cNvSpPr/>
      </dsp:nvSpPr>
      <dsp:spPr>
        <a:xfrm>
          <a:off x="1885050" y="2578575"/>
          <a:ext cx="8414428" cy="754704"/>
        </a:xfrm>
        <a:prstGeom prst="roundRect">
          <a:avLst>
            <a:gd name="adj" fmla="val 10000"/>
          </a:avLst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It was applied </a:t>
          </a:r>
          <a:r>
            <a:rPr lang="en-US" sz="2000" u="sng" kern="1200"/>
            <a:t>only</a:t>
          </a:r>
          <a:r>
            <a:rPr lang="en-US" sz="2000" kern="1200"/>
            <a:t> to </a:t>
          </a:r>
          <a:r>
            <a:rPr lang="en-US" sz="2000" b="1" kern="1200"/>
            <a:t>Linear layers</a:t>
          </a:r>
          <a:endParaRPr lang="en-US" sz="2000" kern="1200"/>
        </a:p>
      </dsp:txBody>
      <dsp:txXfrm>
        <a:off x="1907155" y="2600680"/>
        <a:ext cx="7251309" cy="710494"/>
      </dsp:txXfrm>
    </dsp:sp>
    <dsp:sp modelId="{F0B58758-8930-1E4C-B61C-962334A8F517}">
      <dsp:nvSpPr>
        <dsp:cNvPr id="0" name=""/>
        <dsp:cNvSpPr/>
      </dsp:nvSpPr>
      <dsp:spPr>
        <a:xfrm>
          <a:off x="2513400" y="3438100"/>
          <a:ext cx="8414428" cy="754704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This was selected as the simpler quantization baseline before moving to QAT</a:t>
          </a:r>
        </a:p>
      </dsp:txBody>
      <dsp:txXfrm>
        <a:off x="2535505" y="3460205"/>
        <a:ext cx="7251309" cy="710494"/>
      </dsp:txXfrm>
    </dsp:sp>
    <dsp:sp modelId="{C53FA96C-3452-CA43-BC8E-4359D2E6C851}">
      <dsp:nvSpPr>
        <dsp:cNvPr id="0" name=""/>
        <dsp:cNvSpPr/>
      </dsp:nvSpPr>
      <dsp:spPr>
        <a:xfrm>
          <a:off x="7923870" y="551353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034246" y="551353"/>
        <a:ext cx="269806" cy="369145"/>
      </dsp:txXfrm>
    </dsp:sp>
    <dsp:sp modelId="{611E2114-E5DE-AF44-ACD2-BD01BF1B89FB}">
      <dsp:nvSpPr>
        <dsp:cNvPr id="0" name=""/>
        <dsp:cNvSpPr/>
      </dsp:nvSpPr>
      <dsp:spPr>
        <a:xfrm>
          <a:off x="8552220" y="1410878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83075"/>
            <a:satOff val="-25115"/>
            <a:lumOff val="-25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83075"/>
              <a:satOff val="-25115"/>
              <a:lumOff val="-2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662596" y="1410878"/>
        <a:ext cx="269806" cy="369145"/>
      </dsp:txXfrm>
    </dsp:sp>
    <dsp:sp modelId="{48E3441C-2F07-CE4A-BC59-6A1AE339B0AB}">
      <dsp:nvSpPr>
        <dsp:cNvPr id="0" name=""/>
        <dsp:cNvSpPr/>
      </dsp:nvSpPr>
      <dsp:spPr>
        <a:xfrm>
          <a:off x="9180570" y="2257825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566151"/>
            <a:satOff val="-50231"/>
            <a:lumOff val="-51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566151"/>
              <a:satOff val="-50231"/>
              <a:lumOff val="-5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9290946" y="2257825"/>
        <a:ext cx="269806" cy="369145"/>
      </dsp:txXfrm>
    </dsp:sp>
    <dsp:sp modelId="{F034AA56-3EA7-4240-B991-C1873849B853}">
      <dsp:nvSpPr>
        <dsp:cNvPr id="0" name=""/>
        <dsp:cNvSpPr/>
      </dsp:nvSpPr>
      <dsp:spPr>
        <a:xfrm>
          <a:off x="9808920" y="3125736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9919296" y="3125736"/>
        <a:ext cx="269806" cy="3691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EC295F-D5BB-4382-85D4-8C1F10942DC0}">
      <dsp:nvSpPr>
        <dsp:cNvPr id="0" name=""/>
        <dsp:cNvSpPr/>
      </dsp:nvSpPr>
      <dsp:spPr>
        <a:xfrm>
          <a:off x="2169914" y="158049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E97F4D-250A-4316-9BA1-5668C229ADAA}">
      <dsp:nvSpPr>
        <dsp:cNvPr id="0" name=""/>
        <dsp:cNvSpPr/>
      </dsp:nvSpPr>
      <dsp:spPr>
        <a:xfrm>
          <a:off x="765914" y="183674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Best overall method: QAT</a:t>
          </a:r>
        </a:p>
      </dsp:txBody>
      <dsp:txXfrm>
        <a:off x="765914" y="1836747"/>
        <a:ext cx="4320000" cy="648000"/>
      </dsp:txXfrm>
    </dsp:sp>
    <dsp:sp modelId="{2EAD6775-B7AD-40CE-B8C0-54EEBD7929C1}">
      <dsp:nvSpPr>
        <dsp:cNvPr id="0" name=""/>
        <dsp:cNvSpPr/>
      </dsp:nvSpPr>
      <dsp:spPr>
        <a:xfrm>
          <a:off x="765914" y="2562281"/>
          <a:ext cx="4320000" cy="1472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Accuracy: 88.39%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Loss: 0.315377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Size reduction: 74.75%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Reason: it achieved both stronger predictive performance and substantial compression</a:t>
          </a:r>
        </a:p>
      </dsp:txBody>
      <dsp:txXfrm>
        <a:off x="765914" y="2562281"/>
        <a:ext cx="4320000" cy="1472474"/>
      </dsp:txXfrm>
    </dsp:sp>
    <dsp:sp modelId="{7504C02A-C851-400C-B235-CF8482F2B638}">
      <dsp:nvSpPr>
        <dsp:cNvPr id="0" name=""/>
        <dsp:cNvSpPr/>
      </dsp:nvSpPr>
      <dsp:spPr>
        <a:xfrm>
          <a:off x="7245914" y="158049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602A44-1FCF-4D8D-A3CA-203A1562F9EB}">
      <dsp:nvSpPr>
        <dsp:cNvPr id="0" name=""/>
        <dsp:cNvSpPr/>
      </dsp:nvSpPr>
      <dsp:spPr>
        <a:xfrm>
          <a:off x="5841914" y="183674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Worst-performing method: Structured Pruning</a:t>
          </a:r>
        </a:p>
      </dsp:txBody>
      <dsp:txXfrm>
        <a:off x="5841914" y="1836747"/>
        <a:ext cx="4320000" cy="648000"/>
      </dsp:txXfrm>
    </dsp:sp>
    <dsp:sp modelId="{702D9151-3E2C-4279-8632-A9A41E554020}">
      <dsp:nvSpPr>
        <dsp:cNvPr id="0" name=""/>
        <dsp:cNvSpPr/>
      </dsp:nvSpPr>
      <dsp:spPr>
        <a:xfrm>
          <a:off x="5841914" y="2562281"/>
          <a:ext cx="4320000" cy="1472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Accuracy: 25.25%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Loss: 2.179118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Structured sparsity: 30.02%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Reason: it removed full structured units and was too destructive without recovery or fine-tuning</a:t>
          </a:r>
        </a:p>
      </dsp:txBody>
      <dsp:txXfrm>
        <a:off x="5841914" y="2562281"/>
        <a:ext cx="4320000" cy="14724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6166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Today I will summarize the efficiency experiments I implemented on the same FashionMNIST baseline model.</a:t>
            </a:r>
          </a:p>
          <a:p>
            <a:r>
              <a:t>The focus is on mixed precision, quantization, QAT, weight pruning, and structured pruning.</a:t>
            </a:r>
          </a:p>
          <a:p>
            <a:r>
              <a:t>The goal is to compare them on the same codebase and the same experimental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goal was not to run unrelated experiments.</a:t>
            </a:r>
          </a:p>
          <a:p>
            <a:r>
              <a:t>The goal was to keep one baseline fixed and apply each requested efficiency method on top of it so the comparison stays meaningful.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first established the baseline because every later result depends on it.</a:t>
            </a:r>
          </a:p>
          <a:p>
            <a:r>
              <a:t>If the baseline changes between experiments, the comparison becomes invalid.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model architecture itself stayed fixed.</a:t>
            </a:r>
          </a:p>
          <a:p>
            <a:r>
              <a:t>What I added beyond basic training was a stronger evaluation pipeline, so that all later methods could be compared in a consistent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result became the reference for all later experiments.</a:t>
            </a:r>
          </a:p>
          <a:p>
            <a:r>
              <a:t>The baseline was already reasonably strong, so later methods had to justify themselves relative to this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point of mixed precision is not accuracy by itself.</a:t>
            </a:r>
          </a:p>
          <a:p>
            <a:r>
              <a:t>The point is to reduce computational cost while keeping enough numerical stability during training.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throughpout of the model?</a:t>
            </a:r>
            <a:br>
              <a:rPr lang="en-US"/>
            </a:br>
            <a:br>
              <a:rPr lang="en-US"/>
            </a:br>
            <a:r>
              <a:rPr lang="en-US"/>
              <a:t>which memory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was a fair comparison because I changed the precision handling, not the actual model design.</a:t>
            </a:r>
          </a:p>
          <a:p>
            <a:r>
              <a:t>So any difference mainly reflects the effect of mixed precision itself.</a:t>
            </a:r>
            <a:br>
              <a:rPr lang="en-US"/>
            </a:br>
            <a:br>
              <a:rPr lang="en-US"/>
            </a:br>
            <a:r>
              <a:rPr lang="en-US"/>
              <a:t>Do mixed precitious manually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Mixed precision was feasible on the hardware, but in this experiment it did not improve the final result relative to the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Quantization was one of the main topics the professor specifically asked me to study because it directly connects to deployment on smaller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method required relatively little code change compared to QAT.</a:t>
            </a:r>
          </a:p>
          <a:p>
            <a:r>
              <a:t>It was a clean first step to test quantization on the same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likely reason for the weak compression is that the architecture is dominated by convolutional layers, while dynamic quantization only affected the fully connected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QAT is a more serious quantization workflow because the model learns under quantization constraints during training rather than being quantized only afterward.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Unlike mixed precision or dynamic quantization, QAT required real model-level preparation.</a:t>
            </a:r>
          </a:p>
          <a:p>
            <a:r>
              <a:t>This was not just a wrapper around the training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QAT gave the best trade-off in the whole study.</a:t>
            </a:r>
          </a:p>
          <a:p>
            <a:r>
              <a:t>It improved both predictive performance and model compression.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matches the professor’s explanation well: some connections have very small values, and pruning asks whether those connections are really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experiment isolates pruning as a post-training modification to the same baseline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 pruning worked as a sparsity method, but not as a true file-level compression method in this implementation because the tensors were still stored in dense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was another topic the professor specifically wanted me to understand.</a:t>
            </a:r>
          </a:p>
          <a:p>
            <a:r>
              <a:t>The key point is that structured sparsity is conceptually different from scattered unstructured zero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point is important because the professor explicitly mentioned the hardware limitation.</a:t>
            </a:r>
          </a:p>
          <a:p>
            <a:r>
              <a:t>I can study the concept here, but I should not claim Ampere-style sparse tensor acceleration on this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result shows that direct structured pruning was too aggressive for this baseline.</a:t>
            </a:r>
          </a:p>
          <a:p>
            <a:r>
              <a:t>Without a recovery or fine-tuning stage, the model lost too much representational capacity.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comparison shows that these methods are not interchangeable.</a:t>
            </a:r>
          </a:p>
          <a:p>
            <a:r>
              <a:t>They affect the model in very different ways, and QAT was clearly the strongest method in this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I summarize the study very directly:</a:t>
            </a:r>
          </a:p>
          <a:p>
            <a:r>
              <a:t>QAT was the best overall method because it improved both accuracy and compression.</a:t>
            </a:r>
          </a:p>
          <a:p>
            <a:r>
              <a:t>Structured pruning was the worst-performing method because it caused a severe collapse in model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I had to select one method from this study as the most practically useful, it would be QAT.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makes it clear that every method was implemented by modifying a specific part of the same baseline code, rather than replacing the entire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28AA-AC89-314E-8416-615753A34C1D}" type="datetime1"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28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28FE-143E-8043-81E2-32E40C17BAB9}" type="datetime1"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109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2E47A-62EC-E243-9DF6-6179E3B6CAD5}" type="datetime1"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224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47FE9-427E-964C-9958-C3D5D76F1B26}" type="datetime1"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819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C4BA6-7086-B647-8B43-23B173576E48}" type="datetime1">
              <a:t>3/24/26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277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8FF47-5E44-0044-A3D4-09C28D1009B1}" type="datetime1">
              <a:t>3/24/26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251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037A-E8A6-E040-90CC-EBFEB0E814CF}" type="datetime1">
              <a:t>3/24/26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159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6B982-BE96-3B48-A89F-24CCC5FD81D1}" type="datetime1"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327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3E8A-74E3-3D4B-B642-34D432251237}" type="datetime1"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898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E39C9-B7E1-8A40-94ED-5199E72FAA0D}" type="datetime1"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81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27CE-AD99-ED43-9889-6BDE7E6D6DAC}" type="datetime1"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193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8449D-F65B-8E4B-A66C-BA8254728E2B}" type="datetime1"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79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3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en-US" sz="4500">
                <a:solidFill>
                  <a:schemeClr val="bg1"/>
                </a:solidFill>
              </a:rPr>
              <a:t>Efficiency and Compression Experiments on a Baseline FashionMNIST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Mixed Precision, Quantization, QAT, Weight Pruning, and Structured Sparsity-style Pruning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E277E-E0C9-BDA6-236A-286C172C4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466933"/>
            <a:ext cx="2635250" cy="70788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1FF6DA9-008F-8B48-92A6-B652298478BF}" type="slidenum">
              <a:rPr lang="en-US" sz="4400">
                <a:solidFill>
                  <a:schemeClr val="bg1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</a:t>
            </a:fld>
            <a:endParaRPr lang="en-US" sz="44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3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088" y="1641752"/>
            <a:ext cx="2655887" cy="3213277"/>
          </a:xfrm>
        </p:spPr>
        <p:txBody>
          <a:bodyPr anchor="t">
            <a:normAutofit/>
          </a:bodyPr>
          <a:lstStyle/>
          <a:p>
            <a:r>
              <a:rPr lang="en-US" sz="4000"/>
              <a:t>Objective of this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D121D-96BE-FAE8-8661-B2A8786D9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466933"/>
            <a:ext cx="2635250" cy="70788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1FF6DA9-008F-8B48-92A6-B652298478BF}" type="slidenum">
              <a:rPr lang="en-US" sz="4400">
                <a:solidFill>
                  <a:schemeClr val="tx1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440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2401" y="1721579"/>
            <a:ext cx="6140449" cy="3952648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Start from one fixed baseline model</a:t>
            </a:r>
          </a:p>
          <a:p>
            <a:pPr>
              <a:defRPr sz="2000"/>
            </a:pPr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Study the mentioned concepts</a:t>
            </a:r>
          </a:p>
          <a:p>
            <a:pPr>
              <a:defRPr sz="2000"/>
            </a:pPr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Implement each technique on the same codebase</a:t>
            </a:r>
          </a:p>
          <a:p>
            <a:pPr>
              <a:defRPr sz="2000"/>
            </a:pPr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Compare the impact on accuracy, loss, model size, sparsity, and practical usefulness</a:t>
            </a:r>
          </a:p>
          <a:p>
            <a:pPr>
              <a:defRPr sz="2000"/>
            </a:pPr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Hardware context: Tesla P100 was used for all experiments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3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Freeform: Shape 16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088" y="1641752"/>
            <a:ext cx="2655887" cy="3213277"/>
          </a:xfrm>
        </p:spPr>
        <p:txBody>
          <a:bodyPr anchor="t">
            <a:normAutofit/>
          </a:bodyPr>
          <a:lstStyle/>
          <a:p>
            <a:r>
              <a:rPr lang="en-US" sz="4000"/>
              <a:t>Baseline: what it is and why it matters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B7163-C9EC-305B-F3AA-DC36D57C5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466933"/>
            <a:ext cx="2635250" cy="70788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1FF6DA9-008F-8B48-92A6-B652298478BF}" type="slidenum">
              <a:rPr lang="en-US" sz="4400">
                <a:solidFill>
                  <a:schemeClr val="tx1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sz="440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2401" y="1721579"/>
            <a:ext cx="6140449" cy="3952648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The baseline is the original reference model before any optimization or compression method is applied</a:t>
            </a:r>
          </a:p>
          <a:p>
            <a:pPr>
              <a:defRPr sz="2000"/>
            </a:pPr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It serves as the control condition for all later comparisons</a:t>
            </a:r>
          </a:p>
          <a:p>
            <a:pPr>
              <a:defRPr sz="2000"/>
            </a:pPr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Without a stable baseline, later conclusions are not trustworthy</a:t>
            </a:r>
          </a:p>
          <a:p>
            <a:pPr>
              <a:defRPr sz="2000"/>
            </a:pPr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The baseline defines the original trade-off between performance and model cost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8127" y="2023558"/>
            <a:ext cx="3521265" cy="2491292"/>
          </a:xfrm>
        </p:spPr>
        <p:txBody>
          <a:bodyPr anchor="t">
            <a:normAutofit/>
          </a:bodyPr>
          <a:lstStyle/>
          <a:p>
            <a:r>
              <a:rPr lang="en-US" sz="4000"/>
              <a:t>Baseline: setup and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91B90-81C3-310B-E8E4-0BB0C6F65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466933"/>
            <a:ext cx="2635250" cy="70788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1FF6DA9-008F-8B48-92A6-B652298478BF}" type="slidenum">
              <a:rPr lang="en-US" sz="4400">
                <a:solidFill>
                  <a:schemeClr val="tx1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sz="440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16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3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75" y="1311088"/>
            <a:ext cx="5276850" cy="4327261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Dataset: FashionMNIST</a:t>
            </a:r>
          </a:p>
          <a:p>
            <a:pPr>
              <a:defRPr sz="2000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Input resized to 224×224</a:t>
            </a:r>
          </a:p>
          <a:p>
            <a:pPr>
              <a:defRPr sz="2000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Batch size: 64</a:t>
            </a:r>
          </a:p>
          <a:p>
            <a:pPr>
              <a:defRPr sz="2000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Epochs: 5</a:t>
            </a:r>
          </a:p>
          <a:p>
            <a:pPr>
              <a:defRPr sz="2000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Optimizer: Adam</a:t>
            </a:r>
          </a:p>
          <a:p>
            <a:pPr>
              <a:defRPr sz="2000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Loss: CrossEntropyLoss</a:t>
            </a:r>
          </a:p>
          <a:p>
            <a:pPr>
              <a:defRPr sz="2000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Architecture: multiple Conv2d layers, pooling, dropout, flatten, and fully connected classification head</a:t>
            </a:r>
          </a:p>
          <a:p>
            <a:pPr>
              <a:defRPr sz="2000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Evaluation code added: confusion matrix, classification report, metrics export, accuracy/loss curves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550F5B9-399F-4FAD-AE6C-ED65F9A43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062E60F-5CD4-4268-8359-80766346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288350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41248" y="510047"/>
            <a:ext cx="3300984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600" b="1"/>
            </a:pPr>
            <a:r>
              <a:rPr lang="en-US" sz="2800">
                <a:latin typeface="+mj-lt"/>
                <a:ea typeface="+mj-ea"/>
                <a:cs typeface="+mj-cs"/>
              </a:rPr>
              <a:t>Baseline: experiment result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341EC3-1810-4D33-BA3F-E2D0AA0E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980964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127CDE-2B99-47A8-BB3C-7D175191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0864" y="1323863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81144" y="510047"/>
            <a:ext cx="6858000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600"/>
              <a:t>Accuracy: 85.69%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600"/>
              <a:t>Loss: 0.390833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600"/>
              <a:t>Good performance on distinctive classes such as Trouser, Bag, Sandal, and Ankle boot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600"/>
              <a:t>Main confusion appears among similar upper-body classes: T-shirt/top, Pullover, Coat, and Shirt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2EED46-519B-88B4-ABFC-EE56C16C1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2839999"/>
            <a:ext cx="3584448" cy="31722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9DD975-4ADA-6751-6D5E-1DDAA95BD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599" y="3314938"/>
            <a:ext cx="3584448" cy="22223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604A5C8-C06E-A865-5E6E-44DE92FA9D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7415" y="3319419"/>
            <a:ext cx="3584448" cy="221339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9A2BEC-B136-46A8-6B6B-0E74C89C3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82854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5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8127" y="2023558"/>
            <a:ext cx="3521265" cy="2491292"/>
          </a:xfrm>
        </p:spPr>
        <p:txBody>
          <a:bodyPr anchor="t">
            <a:normAutofit/>
          </a:bodyPr>
          <a:lstStyle/>
          <a:p>
            <a:r>
              <a:rPr lang="en-US" sz="3400"/>
              <a:t>Mixed Precision: concept, purpose, strengths, limitations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0B7A9-7E3D-D7E0-ADF0-74D79A72C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466933"/>
            <a:ext cx="2635250" cy="70788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1FF6DA9-008F-8B48-92A6-B652298478BF}" type="slidenum">
              <a:rPr lang="en-US" sz="4400">
                <a:solidFill>
                  <a:schemeClr val="tx1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 sz="440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3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75" y="1311088"/>
            <a:ext cx="5276850" cy="4327261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Mixed precision training uses more than one numeric precision during training, typically FP16 and FP32</a:t>
            </a:r>
          </a:p>
          <a:p>
            <a:pPr>
              <a:defRPr sz="2000"/>
            </a:pP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>
              <a:defRPr sz="2000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Purpose</a:t>
            </a: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: reduce memory usage and potentially improve training efficiency</a:t>
            </a:r>
          </a:p>
          <a:p>
            <a:pPr>
              <a:defRPr sz="2000"/>
            </a:pP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>
              <a:defRPr sz="2000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Advantages</a:t>
            </a: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: lower memory pressure, possible throughput improvement, relatively clean integration</a:t>
            </a:r>
          </a:p>
          <a:p>
            <a:pPr>
              <a:defRPr sz="2000"/>
            </a:pP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>
              <a:defRPr sz="2000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Disadvantages</a:t>
            </a: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: hardware-dependent benefit, possible numerical instability, no guarantee of better final accuracy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0328031" cy="1143000"/>
          </a:xfrm>
        </p:spPr>
        <p:txBody>
          <a:bodyPr>
            <a:normAutofit/>
          </a:bodyPr>
          <a:lstStyle/>
          <a:p>
            <a:pPr algn="l"/>
            <a:r>
              <a:t>Mixed Precision: implementation in this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88662"/>
          </a:xfrm>
        </p:spPr>
        <p:txBody>
          <a:bodyPr/>
          <a:lstStyle/>
          <a:p>
            <a:pPr>
              <a:defRPr sz="2000"/>
            </a:pPr>
            <a:r>
              <a:t>The model architecture was not redesigned</a:t>
            </a:r>
          </a:p>
          <a:p>
            <a:pPr>
              <a:defRPr sz="2000"/>
            </a:pPr>
            <a:r>
              <a:t>The main computation path was modified using </a:t>
            </a:r>
            <a:r>
              <a:rPr u="sng"/>
              <a:t>autocast</a:t>
            </a:r>
            <a:r>
              <a:t> and </a:t>
            </a:r>
            <a:r>
              <a:rPr u="sng"/>
              <a:t>GradScaler</a:t>
            </a:r>
          </a:p>
          <a:p>
            <a:pPr>
              <a:defRPr sz="2000"/>
            </a:pPr>
            <a:r>
              <a:t>The training loop changed around forward pass, loss computation, and backward scaling</a:t>
            </a:r>
          </a:p>
          <a:p>
            <a:pPr>
              <a:defRPr sz="2000"/>
            </a:pPr>
            <a:r>
              <a:t>Data pipeline and optimizer remained the same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FFDA4-D3FC-B037-C3C0-6B4958536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60841F5-EA8C-F2BF-A129-85A235AC7DD1}"/>
              </a:ext>
            </a:extLst>
          </p:cNvPr>
          <p:cNvSpPr txBox="1">
            <a:spLocks/>
          </p:cNvSpPr>
          <p:nvPr/>
        </p:nvSpPr>
        <p:spPr>
          <a:xfrm>
            <a:off x="457199" y="3688863"/>
            <a:ext cx="9147909" cy="28916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/>
              <a:t>Code-level summary</a:t>
            </a:r>
            <a:endParaRPr lang="en-US" sz="2000"/>
          </a:p>
          <a:p>
            <a:r>
              <a:rPr lang="en-US" sz="2000"/>
              <a:t>training forward pass moved into mixed precision context</a:t>
            </a:r>
          </a:p>
          <a:p>
            <a:r>
              <a:rPr lang="en-US" sz="2000"/>
              <a:t>loss scaling added for stable optimization</a:t>
            </a:r>
          </a:p>
          <a:p>
            <a:pPr marL="0" indent="0">
              <a:buNone/>
            </a:pPr>
            <a:br>
              <a:rPr lang="en-US" sz="2000"/>
            </a:br>
            <a:endParaRPr lang="en-US" sz="2000"/>
          </a:p>
          <a:p>
            <a:pPr marL="0" indent="0">
              <a:buNone/>
            </a:pPr>
            <a:r>
              <a:rPr lang="en-US" sz="2000" b="1"/>
              <a:t>Implementation idea</a:t>
            </a:r>
            <a:endParaRPr lang="en-US" sz="2000"/>
          </a:p>
          <a:p>
            <a:r>
              <a:rPr lang="en-US" sz="2000"/>
              <a:t>baseline architecture stays the same</a:t>
            </a:r>
          </a:p>
          <a:p>
            <a:r>
              <a:rPr lang="en-US" sz="2000"/>
              <a:t>optimizer stays the same</a:t>
            </a:r>
          </a:p>
          <a:p>
            <a:r>
              <a:rPr lang="en-US" sz="2000"/>
              <a:t>data pipeline stays the same</a:t>
            </a:r>
          </a:p>
          <a:p>
            <a:r>
              <a:rPr lang="en-US" sz="2000"/>
              <a:t>only the precision handling changes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C2AC11E-3162-4990-A36E-92B07ECF1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073D962-D3D2-4A72-8593-65C213CBF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4" y="633619"/>
            <a:ext cx="4520912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38200" y="978408"/>
            <a:ext cx="3721608" cy="110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600" b="1"/>
            </a:pPr>
            <a:r>
              <a:rPr lang="en-US" sz="2800">
                <a:latin typeface="+mj-lt"/>
                <a:ea typeface="+mj-ea"/>
                <a:cs typeface="+mj-cs"/>
              </a:rPr>
              <a:t>Mixed Precision: experiment result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87511B-F6E1-4929-AC90-94FB8B6B0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5" y="118153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58F78C-27AB-465F-AA33-15E08AF2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6" y="2185416"/>
            <a:ext cx="3683187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8200" y="2368296"/>
            <a:ext cx="3721608" cy="3502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700"/>
              <a:t>Accuracy: 84.31%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700"/>
              <a:t>Loss: 0.411789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700"/>
              <a:t>Average epoch time: about 86.85 seconds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endParaRPr lang="en-US" sz="17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Slightly worse than baseline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No strong practical advantage in this setup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On Tesla P100, mixed precision was feasible, but it was not the best-performing direction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4ACC44-B918-A2A2-2097-543769154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267" y="974854"/>
            <a:ext cx="3248351" cy="20058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9314F3-CC70-DBDB-380E-1196229F73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9914" y="974855"/>
            <a:ext cx="3248352" cy="20058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8D73EB-21B8-D843-24BF-A3F3478E63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6956" y="3436664"/>
            <a:ext cx="3040975" cy="26912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788BE7-B2E8-C314-22DC-D5FDB89EBE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9914" y="3777902"/>
            <a:ext cx="3248352" cy="200585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322B8-8437-9079-C05F-F408685E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8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Quantization: concept, purpose, strengths, limitations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B17DD-95F1-D64C-AE68-A55A3761B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DD93FC1-EED7-9E9F-0A97-D7E2DEDD5A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645108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Dynamic Quantization: implementation in this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1B62C-7886-C894-A08A-9CD080D5F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3CA77271-BC2D-0A7F-EB20-799E118894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907471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11480" y="991443"/>
            <a:ext cx="4443154" cy="10878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600" b="1"/>
            </a:pPr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Dynamic Quantization: Experiment result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2684095"/>
            <a:ext cx="4443154" cy="3492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Float model accuracy: 85.47%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Float model loss: 0.388511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Dynamic quantized model accuracy: 85.47%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Dynamic quantized model loss: 0.389446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Size reduction: 0.41%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Accuracy was preserved, but compression was negligible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FF74E9-9EC1-78D9-7035-AC23AA8DC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712" y="625683"/>
            <a:ext cx="6272631" cy="555128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C699BF-D2FE-E809-69A5-A49A6A1D8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7321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11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QAT: concept, purpose, strengths,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rPr lang="en-US" sz="1700"/>
              <a:t>QAT stands for Quantization-Aware Training</a:t>
            </a:r>
          </a:p>
          <a:p>
            <a:pPr>
              <a:defRPr sz="2000"/>
            </a:pPr>
            <a:r>
              <a:rPr lang="en-US" sz="1700"/>
              <a:t>Instead of quantizing only after training, the model is trained while simulating quantization effects</a:t>
            </a:r>
          </a:p>
          <a:p>
            <a:pPr>
              <a:defRPr sz="2000"/>
            </a:pPr>
            <a:r>
              <a:rPr lang="en-US" sz="1700" b="1"/>
              <a:t>Purpose</a:t>
            </a:r>
            <a:r>
              <a:rPr lang="en-US" sz="1700"/>
              <a:t>: preserve or improve final quantized accuracy while still achieving real compression</a:t>
            </a:r>
          </a:p>
          <a:p>
            <a:pPr marL="0" indent="0">
              <a:buNone/>
              <a:defRPr sz="2000"/>
            </a:pPr>
            <a:endParaRPr lang="en-US" sz="1700"/>
          </a:p>
          <a:p>
            <a:r>
              <a:rPr lang="en-US" sz="1700" b="1"/>
              <a:t>Advantages</a:t>
            </a:r>
            <a:endParaRPr lang="en-US" sz="1700"/>
          </a:p>
          <a:p>
            <a:r>
              <a:rPr lang="en-US" sz="1700"/>
              <a:t>can preserve or improve quantized performance</a:t>
            </a:r>
          </a:p>
          <a:p>
            <a:r>
              <a:rPr lang="en-US" sz="1700"/>
              <a:t>often yields real compression</a:t>
            </a:r>
          </a:p>
          <a:p>
            <a:r>
              <a:rPr lang="en-US" sz="1700"/>
              <a:t>better suited for deployment than naive post-training quantization</a:t>
            </a:r>
            <a:br>
              <a:rPr lang="en-US" sz="1700"/>
            </a:br>
            <a:endParaRPr lang="en-US" sz="1700"/>
          </a:p>
          <a:p>
            <a:r>
              <a:rPr lang="en-US" sz="1700" b="1"/>
              <a:t>Disadvantages</a:t>
            </a:r>
            <a:endParaRPr lang="en-US" sz="1700"/>
          </a:p>
          <a:p>
            <a:r>
              <a:rPr lang="en-US" sz="1700"/>
              <a:t>more code changes than dynamic quantization</a:t>
            </a:r>
          </a:p>
          <a:p>
            <a:r>
              <a:rPr lang="en-US" sz="1700"/>
              <a:t>more complex to set up</a:t>
            </a:r>
          </a:p>
          <a:p>
            <a:r>
              <a:rPr lang="en-US" sz="1700"/>
              <a:t>requires explicit quantization preparation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D563C-9D57-9359-3DED-91B13FBED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QAT: implementation in this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732954" cy="4525963"/>
          </a:xfrm>
        </p:spPr>
        <p:txBody>
          <a:bodyPr>
            <a:normAutofit fontScale="77500" lnSpcReduction="20000"/>
          </a:bodyPr>
          <a:lstStyle/>
          <a:p>
            <a:pPr>
              <a:defRPr sz="2000"/>
            </a:pPr>
            <a:r>
              <a:rPr sz="1800"/>
              <a:t>QAT required structural preparation of the model</a:t>
            </a:r>
          </a:p>
          <a:p>
            <a:pPr>
              <a:defRPr sz="2000"/>
            </a:pPr>
            <a:r>
              <a:rPr sz="1800"/>
              <a:t>Main additions: QuantStub and DeQuantStub</a:t>
            </a:r>
          </a:p>
          <a:p>
            <a:pPr>
              <a:defRPr sz="2000"/>
            </a:pPr>
            <a:r>
              <a:rPr sz="1800"/>
              <a:t>F.relu was replaced with nn.ReLU</a:t>
            </a:r>
          </a:p>
          <a:p>
            <a:pPr>
              <a:defRPr sz="2000"/>
            </a:pPr>
            <a:r>
              <a:rPr sz="1800"/>
              <a:t>Fusion was introduced where needed</a:t>
            </a:r>
          </a:p>
          <a:p>
            <a:pPr>
              <a:defRPr sz="2000"/>
            </a:pPr>
            <a:r>
              <a:rPr sz="1800"/>
              <a:t>The model was prepared using prepare_qat(...)</a:t>
            </a:r>
          </a:p>
          <a:p>
            <a:pPr>
              <a:defRPr sz="2000"/>
            </a:pPr>
            <a:r>
              <a:rPr sz="1800"/>
              <a:t>After training, the model was converted using convert(...)</a:t>
            </a:r>
            <a:endParaRPr lang="en-US" sz="1800"/>
          </a:p>
          <a:p>
            <a:pPr>
              <a:defRPr sz="2000"/>
            </a:pPr>
            <a:endParaRPr lang="en-US" sz="1800"/>
          </a:p>
          <a:p>
            <a:r>
              <a:rPr lang="en-US" sz="1800" b="1"/>
              <a:t>Why these changes were necessary</a:t>
            </a:r>
            <a:endParaRPr lang="en-US" sz="1800"/>
          </a:p>
          <a:p>
            <a:r>
              <a:rPr lang="en-US" sz="1800"/>
              <a:t>the model must become quantization-aware during training</a:t>
            </a:r>
          </a:p>
          <a:p>
            <a:r>
              <a:rPr lang="en-US" sz="1800"/>
              <a:t>some operations must be represented in a form compatible with QAT preparation and conversion</a:t>
            </a:r>
          </a:p>
          <a:p>
            <a:br>
              <a:rPr lang="en-US" sz="1800"/>
            </a:br>
            <a:endParaRPr lang="en-US" sz="1800"/>
          </a:p>
          <a:p>
            <a:r>
              <a:rPr lang="en-US" sz="1800" b="1"/>
              <a:t>Where the changes happened</a:t>
            </a:r>
            <a:endParaRPr lang="en-US" sz="1800"/>
          </a:p>
          <a:p>
            <a:r>
              <a:rPr lang="en-US" sz="1800"/>
              <a:t>in model definition</a:t>
            </a:r>
          </a:p>
          <a:p>
            <a:r>
              <a:rPr lang="en-US" sz="1800"/>
              <a:t>in model preparation before training</a:t>
            </a:r>
          </a:p>
          <a:p>
            <a:r>
              <a:rPr lang="en-US" sz="1800"/>
              <a:t>in conversion after training</a:t>
            </a:r>
          </a:p>
          <a:p>
            <a:pPr>
              <a:defRPr sz="2000"/>
            </a:pPr>
            <a:endParaRPr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4FDD8-7D5B-6226-F0AC-223AA3BCC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962062F-4323-4A2E-89C5-BAD9AC7AD46B}"/>
              </a:ext>
            </a:extLst>
          </p:cNvPr>
          <p:cNvSpPr txBox="1">
            <a:spLocks/>
          </p:cNvSpPr>
          <p:nvPr/>
        </p:nvSpPr>
        <p:spPr>
          <a:xfrm>
            <a:off x="7440247" y="1370013"/>
            <a:ext cx="4165600" cy="4091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/>
              <a:t>Implementation flow</a:t>
            </a:r>
            <a:endParaRPr lang="en-US" sz="1800"/>
          </a:p>
          <a:p>
            <a:r>
              <a:rPr lang="en-US" sz="1800"/>
              <a:t>define QAT-capable model</a:t>
            </a:r>
          </a:p>
          <a:p>
            <a:r>
              <a:rPr lang="en-US" sz="1800"/>
              <a:t>fuse compatible modules</a:t>
            </a:r>
          </a:p>
          <a:p>
            <a:r>
              <a:rPr lang="en-US" sz="1800"/>
              <a:t>assign QAT config</a:t>
            </a:r>
          </a:p>
          <a:p>
            <a:r>
              <a:rPr lang="en-US" sz="1800"/>
              <a:t>run prepare_qat(...)</a:t>
            </a:r>
          </a:p>
          <a:p>
            <a:r>
              <a:rPr lang="en-US" sz="1800"/>
              <a:t>train</a:t>
            </a:r>
          </a:p>
          <a:p>
            <a:r>
              <a:rPr lang="en-US" sz="1800"/>
              <a:t>convert to final quantized model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9B9E8A9-352D-4DCB-9485-C777000D4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12648" y="1078992"/>
            <a:ext cx="6272784" cy="15361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600" b="1"/>
            </a:pPr>
            <a:r>
              <a:rPr lang="en-US" sz="5200">
                <a:latin typeface="+mj-lt"/>
                <a:ea typeface="+mj-ea"/>
                <a:cs typeface="+mj-cs"/>
              </a:rPr>
              <a:t>QAT: experiment result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A9B0E5-C2C1-4B85-99A9-117A659D5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8AEACA-9535-4BE8-A91B-8BE82BA54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054C9F-D88C-26EB-5E97-D053B7D1D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403" y="331311"/>
            <a:ext cx="3202982" cy="2834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3355848"/>
            <a:ext cx="6272784" cy="2825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200"/>
              <a:t>QAT pre-convert accuracy: 88.32%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200"/>
              <a:t>QAT pre-convert loss: 0.316716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200"/>
              <a:t>QAT converted accuracy: 88.39%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200"/>
              <a:t>QAT converted loss: 0.315377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200"/>
              <a:t>Size reduction: 74.75%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200"/>
              <a:t>Model size dropped from 16.8257 MB to 4.2491 MB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endParaRPr lang="en-US" sz="120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Best result in the entire study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higher accuracy than baseline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strong compression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best trade-off between performance and deployability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2DCCAA-F4B7-917B-594D-6DF6D0F9E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7403" y="3343830"/>
            <a:ext cx="3202982" cy="28346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840E8B-4993-2356-9240-F49D9D819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1176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14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Weight Pruning: concept, purpose, strengths,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rPr lang="en-US" sz="1900"/>
              <a:t>Weight pruning removes low-importance weights, usually based on small magnitude</a:t>
            </a:r>
          </a:p>
          <a:p>
            <a:pPr>
              <a:defRPr sz="2000"/>
            </a:pPr>
            <a:r>
              <a:rPr lang="en-US" sz="1900"/>
              <a:t>Purpose: introduce sparsity and test whether many connections are unnecessary</a:t>
            </a:r>
          </a:p>
          <a:p>
            <a:pPr marL="0" indent="0">
              <a:buNone/>
              <a:defRPr sz="2000"/>
            </a:pPr>
            <a:endParaRPr lang="en-US" sz="1900"/>
          </a:p>
          <a:p>
            <a:r>
              <a:rPr lang="en-US" sz="1900" b="1"/>
              <a:t>Advantages</a:t>
            </a:r>
            <a:endParaRPr lang="en-US" sz="1900"/>
          </a:p>
          <a:p>
            <a:r>
              <a:rPr lang="en-US" sz="1900"/>
              <a:t>can preserve accuracy surprisingly well</a:t>
            </a:r>
          </a:p>
          <a:p>
            <a:r>
              <a:rPr lang="en-US" sz="1900"/>
              <a:t>reveals redundancy in the model</a:t>
            </a:r>
          </a:p>
          <a:p>
            <a:r>
              <a:rPr lang="en-US" sz="1900"/>
              <a:t>often easy to add after training</a:t>
            </a:r>
          </a:p>
          <a:p>
            <a:br>
              <a:rPr lang="en-US" sz="1900"/>
            </a:br>
            <a:endParaRPr lang="en-US" sz="1900"/>
          </a:p>
          <a:p>
            <a:r>
              <a:rPr lang="en-US" sz="1900" b="1"/>
              <a:t>Disadvantages</a:t>
            </a:r>
            <a:endParaRPr lang="en-US" sz="1900"/>
          </a:p>
          <a:p>
            <a:r>
              <a:rPr lang="en-US" sz="1900"/>
              <a:t>zero weights do not automatically mean smaller saved files</a:t>
            </a:r>
          </a:p>
          <a:p>
            <a:r>
              <a:rPr lang="en-US" sz="1900"/>
              <a:t>sparsity does not always produce real speedup</a:t>
            </a:r>
          </a:p>
          <a:p>
            <a:r>
              <a:rPr lang="en-US" sz="1900"/>
              <a:t>effect depends on storage format and hardware support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335C6-AA40-3DC4-DC1B-213E7C513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Weight Pruning: implementation in this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rPr lang="en-US" sz="1900"/>
              <a:t>After baseline-style training, I applied global unstructured pruning</a:t>
            </a:r>
          </a:p>
          <a:p>
            <a:pPr>
              <a:defRPr sz="2000"/>
            </a:pPr>
            <a:r>
              <a:rPr lang="en-US" sz="1900"/>
              <a:t>The pruning method used was L1Unstructured and global_unstructured</a:t>
            </a:r>
          </a:p>
          <a:p>
            <a:pPr>
              <a:defRPr sz="2000"/>
            </a:pPr>
            <a:endParaRPr lang="en-US" sz="1900"/>
          </a:p>
          <a:p>
            <a:pPr>
              <a:defRPr sz="2000"/>
            </a:pPr>
            <a:r>
              <a:rPr lang="en-US" sz="1900"/>
              <a:t>Pruning was applied to both Conv2d and Linear layers</a:t>
            </a:r>
          </a:p>
          <a:p>
            <a:pPr>
              <a:defRPr sz="2000"/>
            </a:pPr>
            <a:r>
              <a:rPr lang="en-US" sz="1900"/>
              <a:t>After pruning, prune.remove(...) was used to remove the reparameterization masks</a:t>
            </a:r>
          </a:p>
          <a:p>
            <a:pPr marL="0" indent="0">
              <a:buNone/>
              <a:defRPr sz="2000"/>
            </a:pPr>
            <a:endParaRPr lang="en-US" sz="1900"/>
          </a:p>
          <a:p>
            <a:r>
              <a:rPr lang="en-US" sz="1900" b="1"/>
              <a:t>Implementation logic</a:t>
            </a:r>
            <a:endParaRPr lang="en-US" sz="1900"/>
          </a:p>
          <a:p>
            <a:r>
              <a:rPr lang="en-US" sz="1900"/>
              <a:t>train dense model</a:t>
            </a:r>
          </a:p>
          <a:p>
            <a:r>
              <a:rPr lang="en-US" sz="1900"/>
              <a:t>identify prunable modules</a:t>
            </a:r>
          </a:p>
          <a:p>
            <a:r>
              <a:rPr lang="en-US" sz="1900"/>
              <a:t>apply global magnitude-based pruning</a:t>
            </a:r>
          </a:p>
          <a:p>
            <a:r>
              <a:rPr lang="en-US" sz="1900"/>
              <a:t>remove pruning reparameterization</a:t>
            </a:r>
          </a:p>
          <a:p>
            <a:r>
              <a:rPr lang="en-US" sz="1900"/>
              <a:t>evaluate sparsity and accuracy</a:t>
            </a:r>
          </a:p>
          <a:p>
            <a:pPr>
              <a:defRPr sz="2000"/>
            </a:pPr>
            <a:endParaRPr lang="en-US" sz="19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F0AD3-F28A-7BAE-4BB2-2D0C10D59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2B198BE-F6DF-4465-B329-28C9E71EB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0"/>
            <a:ext cx="121920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826002" y="457201"/>
            <a:ext cx="6743698" cy="15568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600" b="1"/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Weight Pruning: experiment result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05519C-219C-670C-787A-8CAB09F4E0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" b="9789"/>
          <a:stretch>
            <a:fillRect/>
          </a:stretch>
        </p:blipFill>
        <p:spPr>
          <a:xfrm>
            <a:off x="-1" y="10"/>
            <a:ext cx="4038601" cy="32244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AFECDB-317E-378E-5A68-8EA929FEA1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4" b="10958"/>
          <a:stretch>
            <a:fillRect/>
          </a:stretch>
        </p:blipFill>
        <p:spPr>
          <a:xfrm>
            <a:off x="20" y="3218008"/>
            <a:ext cx="4038581" cy="31823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6001" y="2277036"/>
            <a:ext cx="6743700" cy="3461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300"/>
              <a:t>Dense model accuracy: 85.79%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300"/>
              <a:t>Dense model loss: 0.380213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endParaRPr lang="en-US" sz="13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300"/>
              <a:t>Pruned model accuracy: 85.78%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300"/>
              <a:t>Pruned model loss: 0.381173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endParaRPr lang="en-US" sz="13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300"/>
              <a:t>Global sparsity: 30.00%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300"/>
              <a:t>File size reduction: approximately 0%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endParaRPr lang="en-US" sz="130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/>
              <a:t>Accuracy was preserved almost perfectly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/>
              <a:t>30% sparsity was created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/>
              <a:t>But storage size did not decrease meaningfully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/>
              <a:t>Reason: the model remained stored in dense format even though many values became zero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rgbClr val="000000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alpha val="61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93AE07-3256-892A-82CD-2A8F07C86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1100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17</a:t>
            </a:fld>
            <a:endParaRPr lang="en-US" sz="110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1" y="586855"/>
            <a:ext cx="3434251" cy="3387497"/>
          </a:xfrm>
        </p:spPr>
        <p:txBody>
          <a:bodyPr anchor="b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Structured Sparsity: concept, purpose, strengths,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rPr lang="en-US" sz="1700"/>
              <a:t>Structured sparsity means the sparsity follows an organized structure rather than isolated scattered zero values</a:t>
            </a:r>
          </a:p>
          <a:p>
            <a:pPr>
              <a:defRPr sz="2000"/>
            </a:pPr>
            <a:r>
              <a:rPr lang="en-US" sz="1700"/>
              <a:t>Typical structured units include channels, filters, and full neurons</a:t>
            </a:r>
          </a:p>
          <a:p>
            <a:pPr>
              <a:defRPr sz="2000"/>
            </a:pPr>
            <a:r>
              <a:rPr lang="en-US" sz="1700"/>
              <a:t>Structured pruning is a practical way to create structured sparsity</a:t>
            </a:r>
          </a:p>
          <a:p>
            <a:r>
              <a:rPr lang="en-US" sz="1700" b="1"/>
              <a:t>Advantages</a:t>
            </a:r>
            <a:endParaRPr lang="en-US" sz="1700"/>
          </a:p>
          <a:p>
            <a:r>
              <a:rPr lang="en-US" sz="1700"/>
              <a:t>structured pattern is easier to exploit than scattered zeros</a:t>
            </a:r>
          </a:p>
          <a:p>
            <a:r>
              <a:rPr lang="en-US" sz="1700"/>
              <a:t>conceptually closer to deployment-oriented sparsity</a:t>
            </a:r>
            <a:br>
              <a:rPr lang="en-US" sz="1700"/>
            </a:br>
            <a:endParaRPr lang="en-US" sz="1700"/>
          </a:p>
          <a:p>
            <a:r>
              <a:rPr lang="en-US" sz="1700" b="1"/>
              <a:t>Disadvantages</a:t>
            </a:r>
            <a:endParaRPr lang="en-US" sz="1700"/>
          </a:p>
          <a:p>
            <a:r>
              <a:rPr lang="en-US" sz="1700"/>
              <a:t>much more aggressive than unstructured pruning</a:t>
            </a:r>
          </a:p>
          <a:p>
            <a:r>
              <a:rPr lang="en-US" sz="1700"/>
              <a:t>can destroy model performance if applied directly</a:t>
            </a:r>
          </a:p>
          <a:p>
            <a:r>
              <a:rPr lang="en-US" sz="1700"/>
              <a:t>hardware support matters a lot</a:t>
            </a:r>
          </a:p>
          <a:p>
            <a:endParaRPr lang="en-US" sz="1700"/>
          </a:p>
          <a:p>
            <a:r>
              <a:rPr lang="en-US" sz="1700"/>
              <a:t>On </a:t>
            </a:r>
            <a:r>
              <a:rPr lang="en-US" sz="1700" b="1"/>
              <a:t>Tesla P100</a:t>
            </a:r>
            <a:r>
              <a:rPr lang="en-US" sz="1700"/>
              <a:t>, this is only a structured pruning / structured sparsity-style study</a:t>
            </a:r>
          </a:p>
          <a:p>
            <a:r>
              <a:rPr lang="en-US" sz="1700"/>
              <a:t>It is </a:t>
            </a:r>
            <a:r>
              <a:rPr lang="en-US" sz="1700" b="1"/>
              <a:t>not</a:t>
            </a:r>
            <a:r>
              <a:rPr lang="en-US" sz="1700"/>
              <a:t> Ampere sparse tensor acceleration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D6118-C4F6-ABD5-D4DB-5D2F6E7CF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18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Structured Pruning: implementation in this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rPr lang="en-US" sz="1700"/>
              <a:t>After training, I applied structured pruning using ln_structured(...)</a:t>
            </a:r>
          </a:p>
          <a:p>
            <a:pPr>
              <a:defRPr sz="2000"/>
            </a:pPr>
            <a:r>
              <a:rPr lang="en-US" sz="1700"/>
              <a:t>Pruning was applied along dim=0</a:t>
            </a:r>
          </a:p>
          <a:p>
            <a:pPr>
              <a:defRPr sz="2000"/>
            </a:pPr>
            <a:r>
              <a:rPr lang="en-US" sz="1700"/>
              <a:t>This affected output channels in </a:t>
            </a:r>
            <a:r>
              <a:rPr lang="en-US" sz="1700" u="sng"/>
              <a:t>Conv2d</a:t>
            </a:r>
            <a:r>
              <a:rPr lang="en-US" sz="1700"/>
              <a:t> layers and structured output units in </a:t>
            </a:r>
            <a:r>
              <a:rPr lang="en-US" sz="1700" u="sng"/>
              <a:t>Linear</a:t>
            </a:r>
            <a:r>
              <a:rPr lang="en-US" sz="1700"/>
              <a:t> layers</a:t>
            </a:r>
          </a:p>
          <a:p>
            <a:pPr>
              <a:defRPr sz="2000"/>
            </a:pPr>
            <a:r>
              <a:rPr lang="en-US" sz="1700"/>
              <a:t>After pruning, prune.remove(...) was used</a:t>
            </a:r>
          </a:p>
          <a:p>
            <a:pPr>
              <a:defRPr sz="2000"/>
            </a:pPr>
            <a:r>
              <a:rPr lang="en-US" sz="1700"/>
              <a:t>Important limitation: on Tesla P100 this should be interpreted as structured pruning / structured sparsity-style behavior, not Ampere sparse acceleration</a:t>
            </a:r>
          </a:p>
          <a:p>
            <a:pPr marL="0" indent="0">
              <a:buNone/>
              <a:defRPr sz="2000"/>
            </a:pPr>
            <a:endParaRPr lang="en-US" sz="1700"/>
          </a:p>
          <a:p>
            <a:r>
              <a:rPr lang="en-US" sz="1700" b="1"/>
              <a:t>Implementation flow</a:t>
            </a:r>
            <a:endParaRPr lang="en-US" sz="1700"/>
          </a:p>
          <a:p>
            <a:r>
              <a:rPr lang="en-US" sz="1700"/>
              <a:t>train dense model</a:t>
            </a:r>
          </a:p>
          <a:p>
            <a:r>
              <a:rPr lang="en-US" sz="1700"/>
              <a:t>apply structured pruning</a:t>
            </a:r>
          </a:p>
          <a:p>
            <a:r>
              <a:rPr lang="en-US" sz="1700"/>
              <a:t>remove masks</a:t>
            </a:r>
          </a:p>
          <a:p>
            <a:r>
              <a:rPr lang="en-US" sz="1700"/>
              <a:t>compute structured sparsity</a:t>
            </a:r>
          </a:p>
          <a:p>
            <a:r>
              <a:rPr lang="en-US" sz="1700"/>
              <a:t>evaluate performance</a:t>
            </a:r>
          </a:p>
          <a:p>
            <a:pPr>
              <a:defRPr sz="2000"/>
            </a:pPr>
            <a:endParaRPr lang="en-US" sz="17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9A759-6559-1F79-067C-CCABBC485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19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1153E2-C5C6-06A5-6800-41C9D63A8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04" y="0"/>
            <a:ext cx="3874912" cy="34292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46FF6C-02AA-127D-D92E-9303FCD764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03" y="3425131"/>
            <a:ext cx="3874913" cy="3429300"/>
          </a:xfrm>
          <a:prstGeom prst="rect">
            <a:avLst/>
          </a:prstGeom>
        </p:spPr>
      </p:pic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029" y="623275"/>
            <a:ext cx="6570797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465659" y="1188637"/>
            <a:ext cx="5642312" cy="1597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600" b="1"/>
            </a:pPr>
            <a:r>
              <a:rPr lang="en-US" sz="5400">
                <a:latin typeface="+mj-lt"/>
                <a:ea typeface="+mj-ea"/>
                <a:cs typeface="+mj-cs"/>
              </a:rPr>
              <a:t>Structured Pruning: experiment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65660" y="2998278"/>
            <a:ext cx="4505654" cy="2728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100"/>
              <a:t>Dense model accuracy: 84.34%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100"/>
              <a:t>Dense model loss: 0.426328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100"/>
              <a:t>Structured-pruned model accuracy: 25.25%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100"/>
              <a:t>Structured-pruned model loss: 2.179118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100"/>
              <a:t>Zero-weight sparsity: 30.04%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100"/>
              <a:t>Structured sparsity: 30.02%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100"/>
              <a:t>File size reduction: approximately 0%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/>
              <a:t>Performance collapsed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/>
              <a:t>Structured pruning was too destructive in this form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/>
              <a:t>Without recovery or fine-tuning after pruning, the model lost too much representational capacity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A0661-D073-4E1E-EBBE-0B5A463B0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83496" y="4892040"/>
            <a:ext cx="1673352" cy="10058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fld id="{C1FF6DA9-008F-8B48-92A6-B652298478BF}" type="slidenum">
              <a:rPr lang="en-US" sz="6600">
                <a:solidFill>
                  <a:srgbClr val="FFFFFF"/>
                </a:solidFill>
              </a:rPr>
              <a:pPr defTabSz="914400">
                <a:lnSpc>
                  <a:spcPct val="90000"/>
                </a:lnSpc>
                <a:spcAft>
                  <a:spcPts val="600"/>
                </a:spcAft>
              </a:pPr>
              <a:t>20</a:t>
            </a:fld>
            <a:endParaRPr lang="en-US" sz="660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0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73408" y="992094"/>
            <a:ext cx="3616913" cy="2795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400" b="1"/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Final 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D1EF3-FA56-E319-1A5F-C4024D013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1000"/>
              <a:pPr defTabSz="914400">
                <a:spcAft>
                  <a:spcPts val="600"/>
                </a:spcAft>
              </a:pPr>
              <a:t>21</a:t>
            </a:fld>
            <a:endParaRPr lang="en-US" sz="100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368627"/>
              </p:ext>
            </p:extLst>
          </p:nvPr>
        </p:nvGraphicFramePr>
        <p:xfrm>
          <a:off x="5895751" y="1176234"/>
          <a:ext cx="5708652" cy="447556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69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87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27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89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9274"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rPr lang="en-US" sz="1300"/>
                        <a:t>Method</a:t>
                      </a:r>
                    </a:p>
                  </a:txBody>
                  <a:tcPr marL="87243" marR="87243" marT="43621" marB="43621"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rPr lang="en-US" sz="1300"/>
                        <a:t>Accuracy</a:t>
                      </a:r>
                    </a:p>
                  </a:txBody>
                  <a:tcPr marL="87243" marR="87243" marT="43621" marB="43621"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rPr lang="en-US" sz="1300"/>
                        <a:t>Loss</a:t>
                      </a:r>
                    </a:p>
                  </a:txBody>
                  <a:tcPr marL="87243" marR="87243" marT="43621" marB="43621"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rPr lang="en-US" sz="1300"/>
                        <a:t>Compression / Sparsity</a:t>
                      </a:r>
                    </a:p>
                  </a:txBody>
                  <a:tcPr marL="87243" marR="87243" marT="43621" marB="43621"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rPr lang="en-US" sz="1300"/>
                        <a:t>Main takeaway</a:t>
                      </a:r>
                    </a:p>
                  </a:txBody>
                  <a:tcPr marL="87243" marR="87243" marT="43621" marB="4362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67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lang="en-US" sz="1200"/>
                        <a:t>Baseline</a:t>
                      </a:r>
                    </a:p>
                  </a:txBody>
                  <a:tcPr marL="87243" marR="87243" marT="43621" marB="43621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200"/>
                        <a:t>85.69%</a:t>
                      </a:r>
                    </a:p>
                  </a:txBody>
                  <a:tcPr marL="87243" marR="87243" marT="43621" marB="43621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200"/>
                        <a:t>0.390833</a:t>
                      </a:r>
                    </a:p>
                  </a:txBody>
                  <a:tcPr marL="87243" marR="87243" marT="43621" marB="43621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200"/>
                        <a:t>Reference</a:t>
                      </a:r>
                    </a:p>
                  </a:txBody>
                  <a:tcPr marL="87243" marR="87243" marT="43621" marB="43621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200"/>
                        <a:t>Control model</a:t>
                      </a:r>
                    </a:p>
                  </a:txBody>
                  <a:tcPr marL="87243" marR="87243" marT="43621" marB="4362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193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lang="en-US" sz="1200"/>
                        <a:t>Mixed Precision</a:t>
                      </a:r>
                    </a:p>
                  </a:txBody>
                  <a:tcPr marL="87243" marR="87243" marT="43621" marB="43621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200"/>
                        <a:t>84.31%</a:t>
                      </a:r>
                    </a:p>
                  </a:txBody>
                  <a:tcPr marL="87243" marR="87243" marT="43621" marB="43621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200"/>
                        <a:t>0.411789</a:t>
                      </a:r>
                    </a:p>
                  </a:txBody>
                  <a:tcPr marL="87243" marR="87243" marT="43621" marB="43621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200"/>
                        <a:t>No strong gain</a:t>
                      </a:r>
                    </a:p>
                  </a:txBody>
                  <a:tcPr marL="87243" marR="87243" marT="43621" marB="43621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200"/>
                        <a:t>Slightly worse on this GPU</a:t>
                      </a:r>
                    </a:p>
                  </a:txBody>
                  <a:tcPr marL="87243" marR="87243" marT="43621" marB="4362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8245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lang="en-US" sz="1200"/>
                        <a:t>Dynamic Quantization</a:t>
                      </a:r>
                    </a:p>
                  </a:txBody>
                  <a:tcPr marL="87243" marR="87243" marT="43621" marB="43621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200"/>
                        <a:t>85.47%</a:t>
                      </a:r>
                    </a:p>
                  </a:txBody>
                  <a:tcPr marL="87243" marR="87243" marT="43621" marB="43621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200"/>
                        <a:t>0.389446</a:t>
                      </a:r>
                    </a:p>
                  </a:txBody>
                  <a:tcPr marL="87243" marR="87243" marT="43621" marB="43621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200"/>
                        <a:t>0.41% size reduction</a:t>
                      </a:r>
                    </a:p>
                  </a:txBody>
                  <a:tcPr marL="87243" marR="87243" marT="43621" marB="43621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200"/>
                        <a:t>Accuracy preserved, compression weak</a:t>
                      </a:r>
                    </a:p>
                  </a:txBody>
                  <a:tcPr marL="87243" marR="87243" marT="43621" marB="4362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193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lang="en-US" sz="1200"/>
                        <a:t>QAT Converted</a:t>
                      </a:r>
                    </a:p>
                  </a:txBody>
                  <a:tcPr marL="87243" marR="87243" marT="43621" marB="43621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200"/>
                        <a:t>88.39%</a:t>
                      </a:r>
                    </a:p>
                  </a:txBody>
                  <a:tcPr marL="87243" marR="87243" marT="43621" marB="43621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200"/>
                        <a:t>0.315377</a:t>
                      </a:r>
                    </a:p>
                  </a:txBody>
                  <a:tcPr marL="87243" marR="87243" marT="43621" marB="43621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200"/>
                        <a:t>74.75% size reduction</a:t>
                      </a:r>
                    </a:p>
                  </a:txBody>
                  <a:tcPr marL="87243" marR="87243" marT="43621" marB="43621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200"/>
                        <a:t>Best overall</a:t>
                      </a:r>
                    </a:p>
                  </a:txBody>
                  <a:tcPr marL="87243" marR="87243" marT="43621" marB="4362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8245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lang="en-US" sz="1200"/>
                        <a:t>Weight Pruning</a:t>
                      </a:r>
                    </a:p>
                  </a:txBody>
                  <a:tcPr marL="87243" marR="87243" marT="43621" marB="43621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200"/>
                        <a:t>85.78%</a:t>
                      </a:r>
                    </a:p>
                  </a:txBody>
                  <a:tcPr marL="87243" marR="87243" marT="43621" marB="43621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200"/>
                        <a:t>0.381173</a:t>
                      </a:r>
                    </a:p>
                  </a:txBody>
                  <a:tcPr marL="87243" marR="87243" marT="43621" marB="43621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200"/>
                        <a:t>30% sparsity</a:t>
                      </a:r>
                    </a:p>
                  </a:txBody>
                  <a:tcPr marL="87243" marR="87243" marT="43621" marB="43621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200"/>
                        <a:t>Accuracy preserved, no real file compression</a:t>
                      </a:r>
                    </a:p>
                  </a:txBody>
                  <a:tcPr marL="87243" marR="87243" marT="43621" marB="4362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78245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lang="en-US" sz="1200"/>
                        <a:t>Structured Pruning</a:t>
                      </a:r>
                    </a:p>
                  </a:txBody>
                  <a:tcPr marL="87243" marR="87243" marT="43621" marB="43621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200"/>
                        <a:t>25.25%</a:t>
                      </a:r>
                    </a:p>
                  </a:txBody>
                  <a:tcPr marL="87243" marR="87243" marT="43621" marB="43621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200"/>
                        <a:t>2.179118</a:t>
                      </a:r>
                    </a:p>
                  </a:txBody>
                  <a:tcPr marL="87243" marR="87243" marT="43621" marB="43621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200"/>
                        <a:t>30.02% structured sparsity</a:t>
                      </a:r>
                    </a:p>
                  </a:txBody>
                  <a:tcPr marL="87243" marR="87243" marT="43621" marB="43621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200"/>
                        <a:t>Too destructive without recovery</a:t>
                      </a:r>
                    </a:p>
                  </a:txBody>
                  <a:tcPr marL="87243" marR="87243" marT="43621" marB="4362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Best and worst methods in this study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B85C9-746C-25EE-3381-81E8BC1BA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22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A662BE8-A3B8-AD39-7DF5-0367463BEF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161292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Final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400" b="1"/>
              <a:t>Main findings</a:t>
            </a:r>
            <a:endParaRPr lang="en-US" sz="1400"/>
          </a:p>
          <a:p>
            <a:r>
              <a:rPr lang="en-US" sz="1400"/>
              <a:t>Mixed precision was feasible, but not beneficial enough in this setup</a:t>
            </a:r>
          </a:p>
          <a:p>
            <a:r>
              <a:rPr lang="en-US" sz="1400"/>
              <a:t>Dynamic quantization preserved accuracy, but compression was weak</a:t>
            </a:r>
          </a:p>
          <a:p>
            <a:r>
              <a:rPr lang="en-US" sz="1400"/>
              <a:t>Weight pruning created meaningful sparsity while preserving accuracy</a:t>
            </a:r>
          </a:p>
          <a:p>
            <a:r>
              <a:rPr lang="en-US" sz="1400"/>
              <a:t>Structured pruning was too destructive without recovery</a:t>
            </a:r>
          </a:p>
          <a:p>
            <a:endParaRPr lang="en-US" sz="1400"/>
          </a:p>
          <a:p>
            <a:pPr marL="0" indent="0">
              <a:buNone/>
            </a:pPr>
            <a:r>
              <a:rPr lang="en-US" sz="1400" b="1"/>
              <a:t>QAT gave the strongest result</a:t>
            </a:r>
            <a:endParaRPr lang="en-US" sz="1400"/>
          </a:p>
          <a:p>
            <a:r>
              <a:rPr lang="en-US" sz="1400"/>
              <a:t>best accuracy</a:t>
            </a:r>
          </a:p>
          <a:p>
            <a:r>
              <a:rPr lang="en-US" sz="1400"/>
              <a:t>strongest compression</a:t>
            </a:r>
          </a:p>
          <a:p>
            <a:r>
              <a:rPr lang="en-US" sz="1400"/>
              <a:t>best deployment trade-off</a:t>
            </a:r>
          </a:p>
          <a:p>
            <a:endParaRPr lang="en-US" sz="1400"/>
          </a:p>
          <a:p>
            <a:pPr marL="0" indent="0">
              <a:buNone/>
            </a:pPr>
            <a:r>
              <a:rPr lang="en-US" sz="1400" b="1"/>
              <a:t>Final conclusion</a:t>
            </a:r>
            <a:endParaRPr lang="en-US" sz="1400"/>
          </a:p>
          <a:p>
            <a:r>
              <a:rPr lang="en-US" sz="1400"/>
              <a:t>Under this baseline, hardware, and dataset, QAT was the most effective method.</a:t>
            </a:r>
          </a:p>
          <a:p>
            <a:endParaRPr lang="en-US" sz="1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804E3-2D7C-8A54-2DB5-A008CDE5E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23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0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73408" y="992094"/>
            <a:ext cx="3616913" cy="2795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400" b="1"/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Code-level summary of modifications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9A4F8-3087-167D-C6CA-7560BF960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1000"/>
              <a:pPr defTabSz="914400">
                <a:spcAft>
                  <a:spcPts val="600"/>
                </a:spcAft>
              </a:pPr>
              <a:t>24</a:t>
            </a:fld>
            <a:endParaRPr lang="en-US" sz="100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044182"/>
              </p:ext>
            </p:extLst>
          </p:nvPr>
        </p:nvGraphicFramePr>
        <p:xfrm>
          <a:off x="5895751" y="769213"/>
          <a:ext cx="5708650" cy="5289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2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6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5020"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rPr lang="en-US" sz="1900" b="1"/>
                        <a:t>Method</a:t>
                      </a:r>
                    </a:p>
                  </a:txBody>
                  <a:tcPr marL="124559" marR="124559" marT="62279" marB="62279"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rPr lang="en-US" sz="1900"/>
                        <a:t>Main code change</a:t>
                      </a:r>
                    </a:p>
                  </a:txBody>
                  <a:tcPr marL="124559" marR="124559" marT="62279" marB="6227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13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lang="en-US" sz="1800" b="1"/>
                        <a:t>Baseline</a:t>
                      </a:r>
                    </a:p>
                  </a:txBody>
                  <a:tcPr marL="124559" marR="124559" marT="62279" marB="62279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800"/>
                        <a:t>standard train/test + metrics export</a:t>
                      </a:r>
                    </a:p>
                  </a:txBody>
                  <a:tcPr marL="124559" marR="124559" marT="62279" marB="6227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2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lang="en-US" sz="1800" b="1"/>
                        <a:t>Mixed Precision</a:t>
                      </a:r>
                    </a:p>
                  </a:txBody>
                  <a:tcPr marL="124559" marR="124559" marT="62279" marB="62279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800"/>
                        <a:t>autocast, GradScaler</a:t>
                      </a:r>
                    </a:p>
                  </a:txBody>
                  <a:tcPr marL="124559" marR="124559" marT="62279" marB="6227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13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lang="en-US" sz="1800" b="1"/>
                        <a:t>Dynamic Quantization</a:t>
                      </a:r>
                    </a:p>
                  </a:txBody>
                  <a:tcPr marL="124559" marR="124559" marT="62279" marB="62279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800"/>
                        <a:t>quantize_dynamic(...) after training</a:t>
                      </a:r>
                    </a:p>
                  </a:txBody>
                  <a:tcPr marL="124559" marR="124559" marT="62279" marB="6227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3893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lang="en-US" sz="1800" b="1"/>
                        <a:t>QAT</a:t>
                      </a:r>
                    </a:p>
                  </a:txBody>
                  <a:tcPr marL="124559" marR="124559" marT="62279" marB="62279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800"/>
                        <a:t>QuantStub, DeQuantStub, nn.ReLU, fusion, prepare_qat, convert</a:t>
                      </a:r>
                    </a:p>
                  </a:txBody>
                  <a:tcPr marL="124559" marR="124559" marT="62279" marB="6227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4015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lang="en-US" sz="1800" b="1"/>
                        <a:t>Weight Pruning</a:t>
                      </a:r>
                    </a:p>
                  </a:txBody>
                  <a:tcPr marL="124559" marR="124559" marT="62279" marB="62279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800"/>
                        <a:t>global_unstructured, L1Unstructured, prune.remove</a:t>
                      </a:r>
                    </a:p>
                  </a:txBody>
                  <a:tcPr marL="124559" marR="124559" marT="62279" marB="6227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4138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lang="en-US" sz="1800" b="1"/>
                        <a:t>Structured Pruning</a:t>
                      </a:r>
                    </a:p>
                  </a:txBody>
                  <a:tcPr marL="124559" marR="124559" marT="62279" marB="62279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lang="en-US" sz="1800"/>
                        <a:t>ln_structured(..., dim=0), then prune.remove</a:t>
                      </a:r>
                    </a:p>
                  </a:txBody>
                  <a:tcPr marL="124559" marR="124559" marT="62279" marB="6227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127</TotalTime>
  <Words>2309</Words>
  <Application>Microsoft Macintosh PowerPoint</Application>
  <PresentationFormat>Widescreen</PresentationFormat>
  <Paragraphs>348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2013 - 2022 Theme</vt:lpstr>
      <vt:lpstr>Efficiency and Compression Experiments on a Baseline FashionMNIST Model</vt:lpstr>
      <vt:lpstr>Objective of this work</vt:lpstr>
      <vt:lpstr>Baseline: what it is and why it matters</vt:lpstr>
      <vt:lpstr>Baseline: setup and implementation</vt:lpstr>
      <vt:lpstr>PowerPoint Presentation</vt:lpstr>
      <vt:lpstr>Mixed Precision: concept, purpose, strengths, limitations</vt:lpstr>
      <vt:lpstr>Mixed Precision: implementation in this code</vt:lpstr>
      <vt:lpstr>PowerPoint Presentation</vt:lpstr>
      <vt:lpstr>Quantization: concept, purpose, strengths, limitations</vt:lpstr>
      <vt:lpstr>Dynamic Quantization: implementation in this code</vt:lpstr>
      <vt:lpstr>PowerPoint Presentation</vt:lpstr>
      <vt:lpstr>QAT: concept, purpose, strengths, limitations</vt:lpstr>
      <vt:lpstr>QAT: implementation in this code</vt:lpstr>
      <vt:lpstr>PowerPoint Presentation</vt:lpstr>
      <vt:lpstr>Weight Pruning: concept, purpose, strengths, limitations</vt:lpstr>
      <vt:lpstr>Weight Pruning: implementation in this code</vt:lpstr>
      <vt:lpstr>PowerPoint Presentation</vt:lpstr>
      <vt:lpstr>Structured Sparsity: concept, purpose, strengths, limitations</vt:lpstr>
      <vt:lpstr>Structured Pruning: implementation in this code</vt:lpstr>
      <vt:lpstr>PowerPoint Presentation</vt:lpstr>
      <vt:lpstr>PowerPoint Presentation</vt:lpstr>
      <vt:lpstr>Best and worst methods in this study</vt:lpstr>
      <vt:lpstr>Final 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Kashkoul Kolouei, Reza</cp:lastModifiedBy>
  <cp:revision>29</cp:revision>
  <dcterms:created xsi:type="dcterms:W3CDTF">2013-01-27T09:14:16Z</dcterms:created>
  <dcterms:modified xsi:type="dcterms:W3CDTF">2026-03-24T21:17:31Z</dcterms:modified>
  <cp:category/>
</cp:coreProperties>
</file>